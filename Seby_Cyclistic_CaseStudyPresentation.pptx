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314D"/>
    <a:srgbClr val="02BFC4"/>
    <a:srgbClr val="F976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705"/>
    <p:restoredTop sz="94610"/>
  </p:normalViewPr>
  <p:slideViewPr>
    <p:cSldViewPr snapToGrid="0" snapToObjects="1">
      <p:cViewPr varScale="1">
        <p:scale>
          <a:sx n="197" d="100"/>
          <a:sy n="197" d="100"/>
        </p:scale>
        <p:origin x="21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146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Cyclistic as a marketing analytics case: the goal is not to describe all riders, but to find behavioural differences that can inform membership conversion.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case study starts from a marketing conversion problem. The report therefore focuses on differences that could become campaign logic: volume, duration, timing, seasonality, and bike type.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explain the crash issue and how summary-first processing was a practical and defensible solution. Emphasise that the analysis preserved the variables required for the business questions.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main contrast: members are higher-volume, but casual riders take longer trips. This is the first clue that they should not be marketed to in exactly the same way.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saying this proves temperature causes ridership unless weather data is modelled. Present it as seasonal alignment and likely weather sensitivity.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result directly to marketing: if Saturday is the most important casual day, weekend campaigns and leisure framing are more relevant than only commute messaging.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both groups peak at 5pm, but the surrounding hourly pattern is more revealing than a single maximum.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useful finding because e-bike messaging can work for both groups, but the framing should differ: convenience for members, ease and enjoyment for casual riders.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between the analysis and the recommendations. It reframes the findings into two practical user logics: routine mobility versus leisure/discretionary use.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these recommendations are not generic. They map directly to the identified behavioural patterns: seasonality, weekend use, ride duration, and e-bike preference.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confident, simple insight: different usage patterns imply different marketing logic.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0" y="0"/>
            <a:ext cx="12191695" cy="529718"/>
          </a:xfrm>
          <a:prstGeom prst="rect">
            <a:avLst/>
          </a:prstGeom>
          <a:solidFill>
            <a:srgbClr val="00BFC4"/>
          </a:solidFill>
          <a:ln w="12700">
            <a:solidFill>
              <a:srgbClr val="00BFC4"/>
            </a:solidFill>
            <a:prstDash val="solid"/>
          </a:ln>
        </p:spPr>
        <p:txBody>
          <a:bodyPr/>
          <a:lstStyle/>
          <a:p>
            <a:endParaRPr lang="en-US"/>
          </a:p>
        </p:txBody>
      </p:sp>
      <p:sp>
        <p:nvSpPr>
          <p:cNvPr id="5" name="Shape 3"/>
          <p:cNvSpPr/>
          <p:nvPr/>
        </p:nvSpPr>
        <p:spPr>
          <a:xfrm>
            <a:off x="0" y="-15172"/>
            <a:ext cx="12191695" cy="367867"/>
          </a:xfrm>
          <a:prstGeom prst="rect">
            <a:avLst/>
          </a:prstGeom>
          <a:solidFill>
            <a:srgbClr val="F8766D"/>
          </a:solidFill>
          <a:ln w="12700">
            <a:solidFill>
              <a:srgbClr val="F8766D"/>
            </a:solidFill>
            <a:prstDash val="solid"/>
          </a:ln>
        </p:spPr>
        <p:txBody>
          <a:bodyPr/>
          <a:lstStyle/>
          <a:p>
            <a:endParaRPr lang="en-US"/>
          </a:p>
        </p:txBody>
      </p:sp>
      <p:sp>
        <p:nvSpPr>
          <p:cNvPr id="6" name="Text 4"/>
          <p:cNvSpPr/>
          <p:nvPr/>
        </p:nvSpPr>
        <p:spPr>
          <a:xfrm>
            <a:off x="654357" y="1162756"/>
            <a:ext cx="4772771" cy="2108006"/>
          </a:xfrm>
          <a:prstGeom prst="rect">
            <a:avLst/>
          </a:prstGeom>
          <a:noFill/>
          <a:ln/>
        </p:spPr>
        <p:txBody>
          <a:bodyPr wrap="square" lIns="0" tIns="0" rIns="0" bIns="0" rtlCol="0" anchor="ctr"/>
          <a:lstStyle/>
          <a:p>
            <a:pPr marL="0" indent="0">
              <a:buNone/>
            </a:pPr>
            <a:r>
              <a:rPr lang="en-US" sz="6000" b="1" dirty="0" err="1">
                <a:solidFill>
                  <a:srgbClr val="17324D"/>
                </a:solidFill>
                <a:latin typeface="Aptos Display" pitchFamily="34" charset="0"/>
                <a:ea typeface="Aptos Display" pitchFamily="34" charset="-122"/>
                <a:cs typeface="Aptos Display" pitchFamily="34" charset="-120"/>
              </a:rPr>
              <a:t>Cyclistic</a:t>
            </a:r>
            <a:r>
              <a:rPr lang="en-US" sz="6000" b="1" dirty="0">
                <a:solidFill>
                  <a:srgbClr val="17324D"/>
                </a:solidFill>
                <a:latin typeface="Aptos Display" pitchFamily="34" charset="0"/>
                <a:ea typeface="Aptos Display" pitchFamily="34" charset="-122"/>
                <a:cs typeface="Aptos Display" pitchFamily="34" charset="-120"/>
              </a:rPr>
              <a:t> Case Study</a:t>
            </a:r>
            <a:endParaRPr lang="en-US" sz="6000" dirty="0"/>
          </a:p>
        </p:txBody>
      </p:sp>
      <p:sp>
        <p:nvSpPr>
          <p:cNvPr id="7" name="Text 5"/>
          <p:cNvSpPr/>
          <p:nvPr/>
        </p:nvSpPr>
        <p:spPr>
          <a:xfrm>
            <a:off x="681790" y="3499362"/>
            <a:ext cx="4669164" cy="438912"/>
          </a:xfrm>
          <a:prstGeom prst="rect">
            <a:avLst/>
          </a:prstGeom>
          <a:noFill/>
          <a:ln/>
        </p:spPr>
        <p:txBody>
          <a:bodyPr wrap="square" lIns="0" tIns="0" rIns="0" bIns="0" rtlCol="0" anchor="ctr"/>
          <a:lstStyle/>
          <a:p>
            <a:pPr marL="0" indent="0">
              <a:buNone/>
            </a:pPr>
            <a:r>
              <a:rPr lang="en-US" sz="2000" i="1" dirty="0">
                <a:solidFill>
                  <a:srgbClr val="5F6B7A"/>
                </a:solidFill>
              </a:rPr>
              <a:t>“How annual members and casual riders used Cyclistic bikes differently in 2025”</a:t>
            </a:r>
            <a:endParaRPr lang="en-US" sz="2000" i="1" dirty="0"/>
          </a:p>
        </p:txBody>
      </p:sp>
      <p:sp>
        <p:nvSpPr>
          <p:cNvPr id="8" name="Shape 6"/>
          <p:cNvSpPr/>
          <p:nvPr/>
        </p:nvSpPr>
        <p:spPr>
          <a:xfrm>
            <a:off x="681790" y="4325510"/>
            <a:ext cx="3246154" cy="438912"/>
          </a:xfrm>
          <a:prstGeom prst="roundRect">
            <a:avLst>
              <a:gd name="adj" fmla="val 20000"/>
            </a:avLst>
          </a:prstGeom>
          <a:solidFill>
            <a:srgbClr val="F4F6F8"/>
          </a:solidFill>
          <a:ln w="12700">
            <a:solidFill>
              <a:srgbClr val="F4F6F8"/>
            </a:solidFill>
            <a:prstDash val="solid"/>
          </a:ln>
        </p:spPr>
        <p:txBody>
          <a:bodyPr/>
          <a:lstStyle/>
          <a:p>
            <a:endParaRPr lang="en-US" dirty="0"/>
          </a:p>
        </p:txBody>
      </p:sp>
      <p:sp>
        <p:nvSpPr>
          <p:cNvPr id="9" name="Text 7"/>
          <p:cNvSpPr/>
          <p:nvPr/>
        </p:nvSpPr>
        <p:spPr>
          <a:xfrm>
            <a:off x="793943" y="4389779"/>
            <a:ext cx="3021847" cy="322285"/>
          </a:xfrm>
          <a:prstGeom prst="rect">
            <a:avLst/>
          </a:prstGeom>
          <a:noFill/>
          <a:ln/>
        </p:spPr>
        <p:txBody>
          <a:bodyPr wrap="square" lIns="0" tIns="0" rIns="0" bIns="0" rtlCol="0" anchor="ctr"/>
          <a:lstStyle/>
          <a:p>
            <a:pPr marL="0" indent="0">
              <a:buNone/>
            </a:pPr>
            <a:r>
              <a:rPr lang="en-US" sz="1100" b="1" dirty="0">
                <a:solidFill>
                  <a:srgbClr val="1F2937"/>
                </a:solidFill>
              </a:rPr>
              <a:t>Google Data Analytics Professional Certificate</a:t>
            </a:r>
            <a:endParaRPr lang="en-US" sz="1100" dirty="0"/>
          </a:p>
        </p:txBody>
      </p:sp>
      <p:sp>
        <p:nvSpPr>
          <p:cNvPr id="10" name="Text 8"/>
          <p:cNvSpPr/>
          <p:nvPr/>
        </p:nvSpPr>
        <p:spPr>
          <a:xfrm>
            <a:off x="654357" y="5186116"/>
            <a:ext cx="3657600" cy="219456"/>
          </a:xfrm>
          <a:prstGeom prst="rect">
            <a:avLst/>
          </a:prstGeom>
          <a:noFill/>
          <a:ln/>
        </p:spPr>
        <p:txBody>
          <a:bodyPr wrap="square" lIns="0" tIns="0" rIns="0" bIns="0" rtlCol="0" anchor="ctr"/>
          <a:lstStyle/>
          <a:p>
            <a:pPr marL="0" indent="0">
              <a:buNone/>
            </a:pPr>
            <a:r>
              <a:rPr lang="en-US" sz="950" dirty="0">
                <a:solidFill>
                  <a:srgbClr val="5F6B7A"/>
                </a:solidFill>
              </a:rPr>
              <a:t>Prepared by James Seby Bacus</a:t>
            </a:r>
            <a:endParaRPr lang="en-US" sz="950" dirty="0"/>
          </a:p>
        </p:txBody>
      </p:sp>
      <p:sp>
        <p:nvSpPr>
          <p:cNvPr id="15" name="Text 13"/>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16" name="Text 14"/>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01</a:t>
            </a:r>
            <a:endParaRPr lang="en-US" sz="750" dirty="0"/>
          </a:p>
        </p:txBody>
      </p:sp>
      <p:grpSp>
        <p:nvGrpSpPr>
          <p:cNvPr id="24" name="Group 23">
            <a:extLst>
              <a:ext uri="{FF2B5EF4-FFF2-40B4-BE49-F238E27FC236}">
                <a16:creationId xmlns:a16="http://schemas.microsoft.com/office/drawing/2014/main" id="{C589BDF3-D5E3-916B-8B0A-466EB5A38892}"/>
              </a:ext>
            </a:extLst>
          </p:cNvPr>
          <p:cNvGrpSpPr/>
          <p:nvPr/>
        </p:nvGrpSpPr>
        <p:grpSpPr>
          <a:xfrm>
            <a:off x="6592628" y="1117216"/>
            <a:ext cx="5005013" cy="5105590"/>
            <a:chOff x="7853307" y="1138103"/>
            <a:chExt cx="2937942" cy="2937942"/>
          </a:xfrm>
        </p:grpSpPr>
        <p:sp>
          <p:nvSpPr>
            <p:cNvPr id="12" name="Shape 10"/>
            <p:cNvSpPr/>
            <p:nvPr/>
          </p:nvSpPr>
          <p:spPr>
            <a:xfrm rot="12600000">
              <a:off x="7955280" y="1444752"/>
              <a:ext cx="2560320" cy="2560320"/>
            </a:xfrm>
            <a:prstGeom prst="arc">
              <a:avLst/>
            </a:prstGeom>
            <a:noFill/>
            <a:ln w="165100">
              <a:solidFill>
                <a:srgbClr val="F8766D">
                  <a:alpha val="93000"/>
                </a:srgbClr>
              </a:solidFill>
              <a:prstDash val="solid"/>
            </a:ln>
          </p:spPr>
          <p:txBody>
            <a:bodyPr/>
            <a:lstStyle/>
            <a:p>
              <a:endParaRPr lang="en-US"/>
            </a:p>
          </p:txBody>
        </p:sp>
        <p:sp>
          <p:nvSpPr>
            <p:cNvPr id="14" name="Text 12"/>
            <p:cNvSpPr/>
            <p:nvPr/>
          </p:nvSpPr>
          <p:spPr>
            <a:xfrm>
              <a:off x="8363778" y="2210571"/>
              <a:ext cx="1743323" cy="1028680"/>
            </a:xfrm>
            <a:prstGeom prst="rect">
              <a:avLst/>
            </a:prstGeom>
            <a:noFill/>
            <a:ln/>
          </p:spPr>
          <p:txBody>
            <a:bodyPr wrap="square" rtlCol="0" anchor="ctr"/>
            <a:lstStyle/>
            <a:p>
              <a:pPr marL="0" indent="0" algn="ctr">
                <a:buNone/>
              </a:pPr>
              <a:r>
                <a:rPr lang="en-US" sz="4000" b="1" dirty="0">
                  <a:solidFill>
                    <a:srgbClr val="17324D"/>
                  </a:solidFill>
                </a:rPr>
                <a:t>Analysis Insight Action</a:t>
              </a:r>
              <a:endParaRPr lang="en-US" sz="4000" dirty="0"/>
            </a:p>
          </p:txBody>
        </p:sp>
        <p:sp>
          <p:nvSpPr>
            <p:cNvPr id="22" name="Shape 10">
              <a:extLst>
                <a:ext uri="{FF2B5EF4-FFF2-40B4-BE49-F238E27FC236}">
                  <a16:creationId xmlns:a16="http://schemas.microsoft.com/office/drawing/2014/main" id="{74BA934D-271B-7E02-3542-F5DF38D203B7}"/>
                </a:ext>
              </a:extLst>
            </p:cNvPr>
            <p:cNvSpPr/>
            <p:nvPr/>
          </p:nvSpPr>
          <p:spPr>
            <a:xfrm rot="2262540">
              <a:off x="7955281" y="1444751"/>
              <a:ext cx="2560320" cy="2560320"/>
            </a:xfrm>
            <a:prstGeom prst="arc">
              <a:avLst/>
            </a:prstGeom>
            <a:noFill/>
            <a:ln w="165100">
              <a:solidFill>
                <a:srgbClr val="F8766D">
                  <a:alpha val="93000"/>
                </a:srgbClr>
              </a:solidFill>
              <a:prstDash val="solid"/>
            </a:ln>
          </p:spPr>
          <p:txBody>
            <a:bodyPr/>
            <a:lstStyle/>
            <a:p>
              <a:endParaRPr lang="en-US"/>
            </a:p>
          </p:txBody>
        </p:sp>
        <p:sp>
          <p:nvSpPr>
            <p:cNvPr id="23" name="Shape 10">
              <a:extLst>
                <a:ext uri="{FF2B5EF4-FFF2-40B4-BE49-F238E27FC236}">
                  <a16:creationId xmlns:a16="http://schemas.microsoft.com/office/drawing/2014/main" id="{3BE3B4D4-2CED-3A9A-3B05-FF202227FD07}"/>
                </a:ext>
              </a:extLst>
            </p:cNvPr>
            <p:cNvSpPr/>
            <p:nvPr/>
          </p:nvSpPr>
          <p:spPr>
            <a:xfrm>
              <a:off x="7853307" y="1138103"/>
              <a:ext cx="2937942" cy="2937942"/>
            </a:xfrm>
            <a:prstGeom prst="arc">
              <a:avLst/>
            </a:prstGeom>
            <a:noFill/>
            <a:ln w="165100">
              <a:solidFill>
                <a:srgbClr val="02BFC4"/>
              </a:solidFill>
              <a:prstDash val="solid"/>
            </a:ln>
          </p:spPr>
          <p:txBody>
            <a:bodyPr/>
            <a:lstStyle/>
            <a:p>
              <a:endParaRPr 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p:tgtEl>
                                          <p:spTgt spid="24"/>
                                        </p:tgtEl>
                                        <p:attrNameLst>
                                          <p:attrName>ppt_y</p:attrName>
                                        </p:attrNameLst>
                                      </p:cBhvr>
                                      <p:tavLst>
                                        <p:tav tm="0">
                                          <p:val>
                                            <p:strVal val="#ppt_y+#ppt_h*1.125000"/>
                                          </p:val>
                                        </p:tav>
                                        <p:tav tm="100000">
                                          <p:val>
                                            <p:strVal val="#ppt_y"/>
                                          </p:val>
                                        </p:tav>
                                      </p:tavLst>
                                    </p:anim>
                                    <p:animEffect transition="in" filter="wipe(up)">
                                      <p:cBhvr>
                                        <p:cTn id="3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4389120" cy="201168"/>
          </a:xfrm>
          <a:prstGeom prst="rect">
            <a:avLst/>
          </a:prstGeom>
          <a:noFill/>
          <a:ln/>
        </p:spPr>
        <p:txBody>
          <a:bodyPr wrap="square" rtlCol="0" anchor="ctr"/>
          <a:lstStyle/>
          <a:p>
            <a:pPr marL="0" indent="0">
              <a:buNone/>
            </a:pPr>
            <a:r>
              <a:rPr lang="en-US" sz="750" b="1" dirty="0">
                <a:solidFill>
                  <a:srgbClr val="00BFC4"/>
                </a:solidFill>
                <a:latin typeface="Aptos" pitchFamily="34" charset="0"/>
                <a:ea typeface="Aptos" pitchFamily="34" charset="-122"/>
                <a:cs typeface="Aptos" pitchFamily="34" charset="-120"/>
              </a:rPr>
              <a:t>CYCLISTIC BIKE-SHARE CASE STUDY</a:t>
            </a:r>
            <a:endParaRPr lang="en-US" sz="750" dirty="0"/>
          </a:p>
        </p:txBody>
      </p:sp>
      <p:sp>
        <p:nvSpPr>
          <p:cNvPr id="3" name="Text 1"/>
          <p:cNvSpPr/>
          <p:nvPr/>
        </p:nvSpPr>
        <p:spPr>
          <a:xfrm>
            <a:off x="502920" y="530352"/>
            <a:ext cx="10515600" cy="502920"/>
          </a:xfrm>
          <a:prstGeom prst="rect">
            <a:avLst/>
          </a:prstGeom>
          <a:noFill/>
          <a:ln/>
        </p:spPr>
        <p:txBody>
          <a:bodyPr wrap="square" lIns="0" tIns="0" rIns="0" bIns="0" rtlCol="0" anchor="ctr"/>
          <a:lstStyle/>
          <a:p>
            <a:pPr marL="0" indent="0">
              <a:buNone/>
            </a:pPr>
            <a:r>
              <a:rPr lang="en-US" sz="2200" b="1" dirty="0">
                <a:solidFill>
                  <a:srgbClr val="17324D"/>
                </a:solidFill>
                <a:latin typeface="Aptos Display" pitchFamily="34" charset="0"/>
                <a:ea typeface="Aptos Display" pitchFamily="34" charset="-122"/>
                <a:cs typeface="Aptos Display" pitchFamily="34" charset="-120"/>
              </a:rPr>
              <a:t>Business task and analytical frame</a:t>
            </a:r>
            <a:endParaRPr lang="en-US" sz="2200" dirty="0"/>
          </a:p>
        </p:txBody>
      </p:sp>
      <p:sp>
        <p:nvSpPr>
          <p:cNvPr id="4" name="Shape 2"/>
          <p:cNvSpPr/>
          <p:nvPr/>
        </p:nvSpPr>
        <p:spPr>
          <a:xfrm>
            <a:off x="502920" y="1115568"/>
            <a:ext cx="11173968" cy="0"/>
          </a:xfrm>
          <a:prstGeom prst="line">
            <a:avLst/>
          </a:prstGeom>
          <a:noFill/>
          <a:ln w="12700">
            <a:solidFill>
              <a:srgbClr val="E6E9ED"/>
            </a:solidFill>
            <a:prstDash val="solid"/>
          </a:ln>
        </p:spPr>
        <p:txBody>
          <a:bodyPr/>
          <a:lstStyle/>
          <a:p>
            <a:endParaRPr lang="en-US"/>
          </a:p>
        </p:txBody>
      </p:sp>
      <p:grpSp>
        <p:nvGrpSpPr>
          <p:cNvPr id="8" name="Group 7">
            <a:extLst>
              <a:ext uri="{FF2B5EF4-FFF2-40B4-BE49-F238E27FC236}">
                <a16:creationId xmlns:a16="http://schemas.microsoft.com/office/drawing/2014/main" id="{620A35D3-1714-78FA-B294-F150DDEB9F92}"/>
              </a:ext>
            </a:extLst>
          </p:cNvPr>
          <p:cNvGrpSpPr/>
          <p:nvPr/>
        </p:nvGrpSpPr>
        <p:grpSpPr>
          <a:xfrm>
            <a:off x="594360" y="1508760"/>
            <a:ext cx="3520440" cy="1417320"/>
            <a:chOff x="594360" y="1508760"/>
            <a:chExt cx="3520440" cy="1417320"/>
          </a:xfrm>
        </p:grpSpPr>
        <p:sp>
          <p:nvSpPr>
            <p:cNvPr id="5" name="Shape 3"/>
            <p:cNvSpPr/>
            <p:nvPr/>
          </p:nvSpPr>
          <p:spPr>
            <a:xfrm>
              <a:off x="594360" y="1508760"/>
              <a:ext cx="3520440" cy="1417320"/>
            </a:xfrm>
            <a:prstGeom prst="roundRect">
              <a:avLst>
                <a:gd name="adj" fmla="val 7742"/>
              </a:avLst>
            </a:prstGeom>
            <a:solidFill>
              <a:srgbClr val="FFFFFF"/>
            </a:solidFill>
            <a:ln w="12700">
              <a:solidFill>
                <a:srgbClr val="E6E9ED"/>
              </a:solidFill>
              <a:prstDash val="solid"/>
            </a:ln>
          </p:spPr>
          <p:txBody>
            <a:bodyPr/>
            <a:lstStyle/>
            <a:p>
              <a:endParaRPr lang="en-US"/>
            </a:p>
          </p:txBody>
        </p:sp>
        <p:sp>
          <p:nvSpPr>
            <p:cNvPr id="6" name="Shape 4"/>
            <p:cNvSpPr/>
            <p:nvPr/>
          </p:nvSpPr>
          <p:spPr>
            <a:xfrm>
              <a:off x="594360" y="1508760"/>
              <a:ext cx="109728" cy="1417320"/>
            </a:xfrm>
            <a:prstGeom prst="roundRect">
              <a:avLst>
                <a:gd name="adj" fmla="val 33333"/>
              </a:avLst>
            </a:prstGeom>
            <a:solidFill>
              <a:srgbClr val="F8766D"/>
            </a:solidFill>
            <a:ln w="12700">
              <a:solidFill>
                <a:srgbClr val="F8766D"/>
              </a:solidFill>
              <a:prstDash val="solid"/>
            </a:ln>
          </p:spPr>
          <p:txBody>
            <a:bodyPr/>
            <a:lstStyle/>
            <a:p>
              <a:endParaRPr lang="en-US"/>
            </a:p>
          </p:txBody>
        </p:sp>
      </p:grpSp>
      <p:sp>
        <p:nvSpPr>
          <p:cNvPr id="7" name="Text 5"/>
          <p:cNvSpPr/>
          <p:nvPr/>
        </p:nvSpPr>
        <p:spPr>
          <a:xfrm>
            <a:off x="850392" y="1709928"/>
            <a:ext cx="3108960" cy="182880"/>
          </a:xfrm>
          <a:prstGeom prst="rect">
            <a:avLst/>
          </a:prstGeom>
          <a:noFill/>
          <a:ln/>
        </p:spPr>
        <p:txBody>
          <a:bodyPr wrap="square" lIns="0" tIns="0" rIns="0" bIns="0" rtlCol="0" anchor="ctr"/>
          <a:lstStyle/>
          <a:p>
            <a:pPr marL="0" indent="0">
              <a:buNone/>
            </a:pPr>
            <a:r>
              <a:rPr lang="en-US" sz="1100" b="1" dirty="0">
                <a:solidFill>
                  <a:srgbClr val="5F6B7A"/>
                </a:solidFill>
              </a:rPr>
              <a:t>BUSINESS PROBLEM</a:t>
            </a:r>
            <a:endParaRPr lang="en-US" sz="1100" dirty="0"/>
          </a:p>
        </p:txBody>
      </p:sp>
      <p:sp>
        <p:nvSpPr>
          <p:cNvPr id="9" name="Text 7"/>
          <p:cNvSpPr/>
          <p:nvPr/>
        </p:nvSpPr>
        <p:spPr>
          <a:xfrm>
            <a:off x="850392" y="1996821"/>
            <a:ext cx="3108960" cy="856107"/>
          </a:xfrm>
          <a:prstGeom prst="rect">
            <a:avLst/>
          </a:prstGeom>
          <a:noFill/>
          <a:ln/>
        </p:spPr>
        <p:txBody>
          <a:bodyPr wrap="square" lIns="0" tIns="0" rIns="0" bIns="0" rtlCol="0" anchor="t">
            <a:noAutofit/>
          </a:bodyPr>
          <a:lstStyle/>
          <a:p>
            <a:pPr marL="0" indent="0" algn="just">
              <a:buNone/>
            </a:pPr>
            <a:r>
              <a:rPr lang="en-US" sz="1000" dirty="0">
                <a:solidFill>
                  <a:srgbClr val="5F6B7A"/>
                </a:solidFill>
              </a:rPr>
              <a:t>The company wants to increase the number of annual members as they are more valuable. However, the company does not fully understand the differences between the rider types that use the company’s bike-sharing services</a:t>
            </a:r>
            <a:endParaRPr lang="en-US" sz="1000" dirty="0"/>
          </a:p>
        </p:txBody>
      </p:sp>
      <p:grpSp>
        <p:nvGrpSpPr>
          <p:cNvPr id="28" name="Group 27">
            <a:extLst>
              <a:ext uri="{FF2B5EF4-FFF2-40B4-BE49-F238E27FC236}">
                <a16:creationId xmlns:a16="http://schemas.microsoft.com/office/drawing/2014/main" id="{B4B05A93-C2C8-AA8D-C014-F1F83AFE40FB}"/>
              </a:ext>
            </a:extLst>
          </p:cNvPr>
          <p:cNvGrpSpPr/>
          <p:nvPr/>
        </p:nvGrpSpPr>
        <p:grpSpPr>
          <a:xfrm>
            <a:off x="4343400" y="1508760"/>
            <a:ext cx="3520440" cy="1417320"/>
            <a:chOff x="4343400" y="1508760"/>
            <a:chExt cx="3520440" cy="1417320"/>
          </a:xfrm>
        </p:grpSpPr>
        <p:sp>
          <p:nvSpPr>
            <p:cNvPr id="10" name="Shape 8"/>
            <p:cNvSpPr/>
            <p:nvPr/>
          </p:nvSpPr>
          <p:spPr>
            <a:xfrm>
              <a:off x="4343400" y="1508760"/>
              <a:ext cx="3520440" cy="1417320"/>
            </a:xfrm>
            <a:prstGeom prst="roundRect">
              <a:avLst>
                <a:gd name="adj" fmla="val 7742"/>
              </a:avLst>
            </a:prstGeom>
            <a:solidFill>
              <a:srgbClr val="FFFFFF"/>
            </a:solidFill>
            <a:ln w="12700">
              <a:solidFill>
                <a:srgbClr val="E6E9ED"/>
              </a:solidFill>
              <a:prstDash val="solid"/>
            </a:ln>
          </p:spPr>
          <p:txBody>
            <a:bodyPr/>
            <a:lstStyle/>
            <a:p>
              <a:endParaRPr lang="en-US"/>
            </a:p>
          </p:txBody>
        </p:sp>
        <p:sp>
          <p:nvSpPr>
            <p:cNvPr id="11" name="Shape 9"/>
            <p:cNvSpPr/>
            <p:nvPr/>
          </p:nvSpPr>
          <p:spPr>
            <a:xfrm>
              <a:off x="4343400" y="1508760"/>
              <a:ext cx="109728" cy="1417320"/>
            </a:xfrm>
            <a:prstGeom prst="roundRect">
              <a:avLst>
                <a:gd name="adj" fmla="val 33333"/>
              </a:avLst>
            </a:prstGeom>
            <a:solidFill>
              <a:srgbClr val="00BFC4"/>
            </a:solidFill>
            <a:ln w="12700">
              <a:solidFill>
                <a:srgbClr val="00BFC4"/>
              </a:solidFill>
              <a:prstDash val="solid"/>
            </a:ln>
          </p:spPr>
          <p:txBody>
            <a:bodyPr/>
            <a:lstStyle/>
            <a:p>
              <a:endParaRPr lang="en-US"/>
            </a:p>
          </p:txBody>
        </p:sp>
      </p:grpSp>
      <p:sp>
        <p:nvSpPr>
          <p:cNvPr id="12" name="Text 10"/>
          <p:cNvSpPr/>
          <p:nvPr/>
        </p:nvSpPr>
        <p:spPr>
          <a:xfrm>
            <a:off x="4599432" y="1709928"/>
            <a:ext cx="3108960" cy="182880"/>
          </a:xfrm>
          <a:prstGeom prst="rect">
            <a:avLst/>
          </a:prstGeom>
          <a:noFill/>
          <a:ln/>
        </p:spPr>
        <p:txBody>
          <a:bodyPr wrap="square" lIns="0" tIns="0" rIns="0" bIns="0" rtlCol="0" anchor="ctr"/>
          <a:lstStyle/>
          <a:p>
            <a:r>
              <a:rPr lang="en-US" sz="1100" b="1" dirty="0">
                <a:solidFill>
                  <a:srgbClr val="5F6B7A"/>
                </a:solidFill>
              </a:rPr>
              <a:t>BUSINESS OBJECTIVE</a:t>
            </a:r>
            <a:endParaRPr lang="en-US" sz="1100" dirty="0"/>
          </a:p>
        </p:txBody>
      </p:sp>
      <p:sp>
        <p:nvSpPr>
          <p:cNvPr id="13" name="Text 11"/>
          <p:cNvSpPr/>
          <p:nvPr/>
        </p:nvSpPr>
        <p:spPr>
          <a:xfrm>
            <a:off x="4599432" y="1901952"/>
            <a:ext cx="3108960" cy="393192"/>
          </a:xfrm>
          <a:prstGeom prst="rect">
            <a:avLst/>
          </a:prstGeom>
          <a:noFill/>
          <a:ln/>
        </p:spPr>
        <p:txBody>
          <a:bodyPr wrap="square" lIns="0" tIns="0" rIns="0" bIns="0" rtlCol="0" anchor="ctr"/>
          <a:lstStyle/>
          <a:p>
            <a:r>
              <a:rPr lang="en-US" sz="2400" b="1" dirty="0">
                <a:solidFill>
                  <a:srgbClr val="1F2937"/>
                </a:solidFill>
              </a:rPr>
              <a:t>Convert casual riders</a:t>
            </a:r>
            <a:endParaRPr lang="en-US" sz="2400" dirty="0"/>
          </a:p>
        </p:txBody>
      </p:sp>
      <p:sp>
        <p:nvSpPr>
          <p:cNvPr id="14" name="Text 12"/>
          <p:cNvSpPr/>
          <p:nvPr/>
        </p:nvSpPr>
        <p:spPr>
          <a:xfrm>
            <a:off x="4599432" y="2359152"/>
            <a:ext cx="3108960" cy="493776"/>
          </a:xfrm>
          <a:prstGeom prst="rect">
            <a:avLst/>
          </a:prstGeom>
          <a:noFill/>
          <a:ln/>
        </p:spPr>
        <p:txBody>
          <a:bodyPr wrap="square" lIns="0" tIns="0" rIns="0" bIns="0" rtlCol="0" anchor="t">
            <a:normAutofit/>
          </a:bodyPr>
          <a:lstStyle/>
          <a:p>
            <a:pPr algn="just"/>
            <a:r>
              <a:rPr lang="en-US" sz="1000" dirty="0">
                <a:solidFill>
                  <a:srgbClr val="5F6B7A"/>
                </a:solidFill>
              </a:rPr>
              <a:t>Develop evidence-based marketing strategies that encourage selected casual riders to become annual members.</a:t>
            </a:r>
            <a:endParaRPr lang="en-US" sz="1000" dirty="0"/>
          </a:p>
        </p:txBody>
      </p:sp>
      <p:grpSp>
        <p:nvGrpSpPr>
          <p:cNvPr id="29" name="Group 28">
            <a:extLst>
              <a:ext uri="{FF2B5EF4-FFF2-40B4-BE49-F238E27FC236}">
                <a16:creationId xmlns:a16="http://schemas.microsoft.com/office/drawing/2014/main" id="{7C232AF2-6670-7A29-0FE0-0CBC994FB65E}"/>
              </a:ext>
            </a:extLst>
          </p:cNvPr>
          <p:cNvGrpSpPr/>
          <p:nvPr/>
        </p:nvGrpSpPr>
        <p:grpSpPr>
          <a:xfrm>
            <a:off x="8092440" y="1508760"/>
            <a:ext cx="3520440" cy="1417320"/>
            <a:chOff x="8092440" y="1508760"/>
            <a:chExt cx="3520440" cy="1417320"/>
          </a:xfrm>
        </p:grpSpPr>
        <p:sp>
          <p:nvSpPr>
            <p:cNvPr id="15" name="Shape 13"/>
            <p:cNvSpPr/>
            <p:nvPr/>
          </p:nvSpPr>
          <p:spPr>
            <a:xfrm>
              <a:off x="8092440" y="1508760"/>
              <a:ext cx="3520440" cy="1417320"/>
            </a:xfrm>
            <a:prstGeom prst="roundRect">
              <a:avLst>
                <a:gd name="adj" fmla="val 7742"/>
              </a:avLst>
            </a:prstGeom>
            <a:solidFill>
              <a:srgbClr val="FFFFFF"/>
            </a:solidFill>
            <a:ln w="12700">
              <a:solidFill>
                <a:srgbClr val="E6E9ED"/>
              </a:solidFill>
              <a:prstDash val="solid"/>
            </a:ln>
          </p:spPr>
          <p:txBody>
            <a:bodyPr/>
            <a:lstStyle/>
            <a:p>
              <a:endParaRPr lang="en-US"/>
            </a:p>
          </p:txBody>
        </p:sp>
        <p:sp>
          <p:nvSpPr>
            <p:cNvPr id="16" name="Shape 14"/>
            <p:cNvSpPr/>
            <p:nvPr/>
          </p:nvSpPr>
          <p:spPr>
            <a:xfrm>
              <a:off x="8092440" y="1508760"/>
              <a:ext cx="109728" cy="1417320"/>
            </a:xfrm>
            <a:prstGeom prst="roundRect">
              <a:avLst>
                <a:gd name="adj" fmla="val 33333"/>
              </a:avLst>
            </a:prstGeom>
            <a:solidFill>
              <a:srgbClr val="17324D"/>
            </a:solidFill>
            <a:ln w="12700">
              <a:solidFill>
                <a:srgbClr val="17324D"/>
              </a:solidFill>
              <a:prstDash val="solid"/>
            </a:ln>
          </p:spPr>
          <p:txBody>
            <a:bodyPr/>
            <a:lstStyle/>
            <a:p>
              <a:endParaRPr lang="en-US"/>
            </a:p>
          </p:txBody>
        </p:sp>
      </p:grpSp>
      <p:sp>
        <p:nvSpPr>
          <p:cNvPr id="17" name="Text 15"/>
          <p:cNvSpPr/>
          <p:nvPr/>
        </p:nvSpPr>
        <p:spPr>
          <a:xfrm>
            <a:off x="8348472" y="1709928"/>
            <a:ext cx="3108960" cy="182880"/>
          </a:xfrm>
          <a:prstGeom prst="rect">
            <a:avLst/>
          </a:prstGeom>
          <a:noFill/>
          <a:ln/>
        </p:spPr>
        <p:txBody>
          <a:bodyPr wrap="square" lIns="0" tIns="0" rIns="0" bIns="0" rtlCol="0" anchor="ctr"/>
          <a:lstStyle/>
          <a:p>
            <a:r>
              <a:rPr lang="en-US" sz="1100" b="1" dirty="0">
                <a:solidFill>
                  <a:srgbClr val="5F6B7A"/>
                </a:solidFill>
              </a:rPr>
              <a:t>CORE QUESTION</a:t>
            </a:r>
            <a:endParaRPr lang="en-US" sz="1100" dirty="0"/>
          </a:p>
        </p:txBody>
      </p:sp>
      <p:sp>
        <p:nvSpPr>
          <p:cNvPr id="18" name="Text 16"/>
          <p:cNvSpPr/>
          <p:nvPr/>
        </p:nvSpPr>
        <p:spPr>
          <a:xfrm>
            <a:off x="8348472" y="1901952"/>
            <a:ext cx="3108960" cy="393192"/>
          </a:xfrm>
          <a:prstGeom prst="rect">
            <a:avLst/>
          </a:prstGeom>
          <a:noFill/>
          <a:ln/>
        </p:spPr>
        <p:txBody>
          <a:bodyPr wrap="square" lIns="0" tIns="0" rIns="0" bIns="0" rtlCol="0" anchor="ctr"/>
          <a:lstStyle/>
          <a:p>
            <a:r>
              <a:rPr lang="en-US" sz="2400" b="1" dirty="0">
                <a:solidFill>
                  <a:srgbClr val="1F2937"/>
                </a:solidFill>
              </a:rPr>
              <a:t>Usage differences</a:t>
            </a:r>
            <a:endParaRPr lang="en-US" sz="2400" dirty="0"/>
          </a:p>
        </p:txBody>
      </p:sp>
      <p:sp>
        <p:nvSpPr>
          <p:cNvPr id="19" name="Text 17"/>
          <p:cNvSpPr/>
          <p:nvPr/>
        </p:nvSpPr>
        <p:spPr>
          <a:xfrm>
            <a:off x="8348472" y="2359152"/>
            <a:ext cx="3108960" cy="493776"/>
          </a:xfrm>
          <a:prstGeom prst="rect">
            <a:avLst/>
          </a:prstGeom>
          <a:noFill/>
          <a:ln/>
        </p:spPr>
        <p:txBody>
          <a:bodyPr wrap="square" lIns="0" tIns="0" rIns="0" bIns="0" rtlCol="0" anchor="t">
            <a:normAutofit/>
          </a:bodyPr>
          <a:lstStyle/>
          <a:p>
            <a:pPr algn="just"/>
            <a:r>
              <a:rPr lang="en-US" sz="1000" dirty="0">
                <a:solidFill>
                  <a:srgbClr val="5F6B7A"/>
                </a:solidFill>
              </a:rPr>
              <a:t>“How do annual members and casual riders use </a:t>
            </a:r>
            <a:r>
              <a:rPr lang="en-US" sz="1000" dirty="0" err="1">
                <a:solidFill>
                  <a:srgbClr val="5F6B7A"/>
                </a:solidFill>
              </a:rPr>
              <a:t>Cyclistic</a:t>
            </a:r>
            <a:r>
              <a:rPr lang="en-US" sz="1000" dirty="0">
                <a:solidFill>
                  <a:srgbClr val="5F6B7A"/>
                </a:solidFill>
              </a:rPr>
              <a:t> bikes differently?”</a:t>
            </a:r>
            <a:endParaRPr lang="en-US" sz="1000" dirty="0"/>
          </a:p>
        </p:txBody>
      </p:sp>
      <p:sp>
        <p:nvSpPr>
          <p:cNvPr id="20" name="Text 18"/>
          <p:cNvSpPr/>
          <p:nvPr/>
        </p:nvSpPr>
        <p:spPr>
          <a:xfrm>
            <a:off x="594360" y="3807332"/>
            <a:ext cx="4846320" cy="256032"/>
          </a:xfrm>
          <a:prstGeom prst="rect">
            <a:avLst/>
          </a:prstGeom>
          <a:noFill/>
          <a:ln/>
        </p:spPr>
        <p:txBody>
          <a:bodyPr wrap="square" lIns="0" tIns="0" rIns="0" bIns="0" rtlCol="0" anchor="ctr"/>
          <a:lstStyle/>
          <a:p>
            <a:pPr marL="0" indent="0">
              <a:buNone/>
            </a:pPr>
            <a:r>
              <a:rPr lang="en-US" sz="2400" b="1" i="1" dirty="0">
                <a:solidFill>
                  <a:srgbClr val="17324D"/>
                </a:solidFill>
              </a:rPr>
              <a:t>Six guiding questions:</a:t>
            </a:r>
            <a:endParaRPr lang="en-US" sz="2400" i="1" dirty="0"/>
          </a:p>
        </p:txBody>
      </p:sp>
      <p:sp>
        <p:nvSpPr>
          <p:cNvPr id="21" name="Text 19"/>
          <p:cNvSpPr/>
          <p:nvPr/>
        </p:nvSpPr>
        <p:spPr>
          <a:xfrm>
            <a:off x="594360" y="4334256"/>
            <a:ext cx="4756868" cy="1522476"/>
          </a:xfrm>
          <a:prstGeom prst="rect">
            <a:avLst/>
          </a:prstGeom>
          <a:noFill/>
          <a:ln/>
        </p:spPr>
        <p:txBody>
          <a:bodyPr wrap="square" lIns="254" tIns="254" rIns="254" bIns="254" rtlCol="0" anchor="t">
            <a:normAutofit/>
          </a:bodyPr>
          <a:lstStyle/>
          <a:p>
            <a:pPr marL="342900" indent="-342900">
              <a:buFont typeface="+mj-lt"/>
              <a:buAutoNum type="arabicPeriod"/>
            </a:pPr>
            <a:r>
              <a:rPr lang="en-US" sz="1600" dirty="0">
                <a:solidFill>
                  <a:srgbClr val="1F2937"/>
                </a:solidFill>
              </a:rPr>
              <a:t>Which rider type rides more?</a:t>
            </a:r>
            <a:endParaRPr lang="en-US" sz="1600" dirty="0"/>
          </a:p>
          <a:p>
            <a:pPr marL="342900" indent="-342900">
              <a:buFont typeface="+mj-lt"/>
              <a:buAutoNum type="arabicPeriod"/>
            </a:pPr>
            <a:r>
              <a:rPr lang="en-US" sz="1600" dirty="0">
                <a:solidFill>
                  <a:srgbClr val="1F2937"/>
                </a:solidFill>
              </a:rPr>
              <a:t>Which rider type rides longer on average?</a:t>
            </a:r>
            <a:endParaRPr lang="en-US" sz="1600" dirty="0"/>
          </a:p>
          <a:p>
            <a:pPr marL="342900" indent="-342900">
              <a:buFont typeface="+mj-lt"/>
              <a:buAutoNum type="arabicPeriod"/>
            </a:pPr>
            <a:r>
              <a:rPr lang="en-US" sz="1600" dirty="0">
                <a:solidFill>
                  <a:srgbClr val="1F2937"/>
                </a:solidFill>
              </a:rPr>
              <a:t>How does usage change across the year?</a:t>
            </a:r>
            <a:endParaRPr lang="en-US" sz="1600" dirty="0"/>
          </a:p>
          <a:p>
            <a:pPr marL="342900" indent="-342900">
              <a:buFont typeface="+mj-lt"/>
              <a:buAutoNum type="arabicPeriod"/>
            </a:pPr>
            <a:r>
              <a:rPr lang="en-US" sz="1600" dirty="0">
                <a:solidFill>
                  <a:srgbClr val="1F2937"/>
                </a:solidFill>
              </a:rPr>
              <a:t>Which day of the week is most popular?</a:t>
            </a:r>
            <a:endParaRPr lang="en-US" sz="1600" dirty="0"/>
          </a:p>
          <a:p>
            <a:pPr marL="342900" indent="-342900">
              <a:buFont typeface="+mj-lt"/>
              <a:buAutoNum type="arabicPeriod"/>
            </a:pPr>
            <a:r>
              <a:rPr lang="en-US" sz="1600" dirty="0">
                <a:solidFill>
                  <a:srgbClr val="1F2937"/>
                </a:solidFill>
              </a:rPr>
              <a:t>Which hour sees the highest rider volume?</a:t>
            </a:r>
            <a:endParaRPr lang="en-US" sz="1600" dirty="0"/>
          </a:p>
          <a:p>
            <a:pPr marL="342900" indent="-342900">
              <a:buFont typeface="+mj-lt"/>
              <a:buAutoNum type="arabicPeriod"/>
            </a:pPr>
            <a:r>
              <a:rPr lang="en-US" sz="1600" dirty="0">
                <a:solidFill>
                  <a:srgbClr val="1F2937"/>
                </a:solidFill>
              </a:rPr>
              <a:t>Are there bike type preferences by rider type?</a:t>
            </a:r>
            <a:endParaRPr lang="en-US" sz="1600" dirty="0"/>
          </a:p>
        </p:txBody>
      </p:sp>
      <p:sp>
        <p:nvSpPr>
          <p:cNvPr id="22" name="Shape 20"/>
          <p:cNvSpPr/>
          <p:nvPr/>
        </p:nvSpPr>
        <p:spPr>
          <a:xfrm>
            <a:off x="5897880" y="3507008"/>
            <a:ext cx="5715000" cy="1933672"/>
          </a:xfrm>
          <a:prstGeom prst="roundRect">
            <a:avLst>
              <a:gd name="adj" fmla="val 3704"/>
            </a:avLst>
          </a:prstGeom>
          <a:solidFill>
            <a:schemeClr val="accent3">
              <a:lumMod val="20000"/>
              <a:lumOff val="80000"/>
            </a:schemeClr>
          </a:solidFill>
          <a:ln w="12700">
            <a:solidFill>
              <a:schemeClr val="tx1">
                <a:lumMod val="95000"/>
                <a:lumOff val="5000"/>
              </a:schemeClr>
            </a:solidFill>
            <a:prstDash val="solid"/>
          </a:ln>
        </p:spPr>
        <p:txBody>
          <a:bodyPr/>
          <a:lstStyle/>
          <a:p>
            <a:endParaRPr lang="en-US"/>
          </a:p>
        </p:txBody>
      </p:sp>
      <p:sp>
        <p:nvSpPr>
          <p:cNvPr id="23" name="Text 21"/>
          <p:cNvSpPr/>
          <p:nvPr/>
        </p:nvSpPr>
        <p:spPr>
          <a:xfrm>
            <a:off x="6202018" y="3959353"/>
            <a:ext cx="5120641" cy="374336"/>
          </a:xfrm>
          <a:prstGeom prst="rect">
            <a:avLst/>
          </a:prstGeom>
          <a:noFill/>
          <a:ln/>
        </p:spPr>
        <p:txBody>
          <a:bodyPr wrap="square" lIns="0" tIns="0" rIns="0" bIns="0" rtlCol="0" anchor="ctr"/>
          <a:lstStyle/>
          <a:p>
            <a:pPr marL="0" indent="0">
              <a:buNone/>
            </a:pPr>
            <a:r>
              <a:rPr lang="en-US" sz="2400" b="1" dirty="0">
                <a:solidFill>
                  <a:srgbClr val="17324D"/>
                </a:solidFill>
              </a:rPr>
              <a:t>Why and How?</a:t>
            </a:r>
            <a:endParaRPr lang="en-US" sz="2400" dirty="0"/>
          </a:p>
        </p:txBody>
      </p:sp>
      <p:sp>
        <p:nvSpPr>
          <p:cNvPr id="24" name="Text 22"/>
          <p:cNvSpPr/>
          <p:nvPr/>
        </p:nvSpPr>
        <p:spPr>
          <a:xfrm>
            <a:off x="6202018" y="4423411"/>
            <a:ext cx="5120640" cy="902686"/>
          </a:xfrm>
          <a:prstGeom prst="rect">
            <a:avLst/>
          </a:prstGeom>
          <a:noFill/>
          <a:ln/>
        </p:spPr>
        <p:txBody>
          <a:bodyPr wrap="square" lIns="254" tIns="254" rIns="254" bIns="254" rtlCol="0" anchor="t">
            <a:normAutofit/>
          </a:bodyPr>
          <a:lstStyle/>
          <a:p>
            <a:pPr marL="0" indent="0" algn="just">
              <a:buNone/>
            </a:pPr>
            <a:r>
              <a:rPr lang="en-US" sz="1600" dirty="0">
                <a:solidFill>
                  <a:srgbClr val="1F2937"/>
                </a:solidFill>
              </a:rPr>
              <a:t>This analysis is critical to reveal the differences of </a:t>
            </a:r>
            <a:r>
              <a:rPr lang="en-US" sz="1600" dirty="0" err="1">
                <a:solidFill>
                  <a:srgbClr val="1F2937"/>
                </a:solidFill>
              </a:rPr>
              <a:t>Cyclistc</a:t>
            </a:r>
            <a:r>
              <a:rPr lang="en-US" sz="1600" dirty="0">
                <a:solidFill>
                  <a:srgbClr val="1F2937"/>
                </a:solidFill>
              </a:rPr>
              <a:t> rider uses through volume, duration, scale, and intensity analyses,.</a:t>
            </a:r>
            <a:endParaRPr lang="en-US" sz="1600" dirty="0"/>
          </a:p>
        </p:txBody>
      </p:sp>
      <p:sp>
        <p:nvSpPr>
          <p:cNvPr id="25" name="Text 23"/>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26" name="Text 24"/>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02</a:t>
            </a:r>
            <a:endParaRPr lang="en-US" sz="750" dirty="0"/>
          </a:p>
        </p:txBody>
      </p:sp>
      <p:sp>
        <p:nvSpPr>
          <p:cNvPr id="27" name="Shape 14">
            <a:extLst>
              <a:ext uri="{FF2B5EF4-FFF2-40B4-BE49-F238E27FC236}">
                <a16:creationId xmlns:a16="http://schemas.microsoft.com/office/drawing/2014/main" id="{095BE996-C8C7-F727-908C-8A5E9F257FEA}"/>
              </a:ext>
            </a:extLst>
          </p:cNvPr>
          <p:cNvSpPr/>
          <p:nvPr/>
        </p:nvSpPr>
        <p:spPr>
          <a:xfrm rot="16200000">
            <a:off x="2879284" y="1240086"/>
            <a:ext cx="86869" cy="4656716"/>
          </a:xfrm>
          <a:prstGeom prst="roundRect">
            <a:avLst>
              <a:gd name="adj" fmla="val 33333"/>
            </a:avLst>
          </a:prstGeom>
          <a:solidFill>
            <a:srgbClr val="17324D"/>
          </a:solidFill>
          <a:ln w="12700">
            <a:solidFill>
              <a:srgbClr val="17324D"/>
            </a:solidFill>
            <a:prstDash val="solid"/>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4389120" cy="201168"/>
          </a:xfrm>
          <a:prstGeom prst="rect">
            <a:avLst/>
          </a:prstGeom>
          <a:noFill/>
          <a:ln/>
        </p:spPr>
        <p:txBody>
          <a:bodyPr wrap="square" rtlCol="0" anchor="ctr"/>
          <a:lstStyle/>
          <a:p>
            <a:pPr marL="0" indent="0">
              <a:buNone/>
            </a:pPr>
            <a:r>
              <a:rPr lang="en-US" sz="750" b="1" dirty="0">
                <a:solidFill>
                  <a:srgbClr val="00BFC4"/>
                </a:solidFill>
                <a:latin typeface="Aptos" pitchFamily="34" charset="0"/>
                <a:ea typeface="Aptos" pitchFamily="34" charset="-122"/>
                <a:cs typeface="Aptos" pitchFamily="34" charset="-120"/>
              </a:rPr>
              <a:t>CYCLISTIC BIKE-SHARE CASE STUDY</a:t>
            </a:r>
            <a:endParaRPr lang="en-US" sz="750" dirty="0"/>
          </a:p>
        </p:txBody>
      </p:sp>
      <p:sp>
        <p:nvSpPr>
          <p:cNvPr id="3" name="Text 1"/>
          <p:cNvSpPr/>
          <p:nvPr/>
        </p:nvSpPr>
        <p:spPr>
          <a:xfrm>
            <a:off x="502920" y="530352"/>
            <a:ext cx="10515600" cy="502920"/>
          </a:xfrm>
          <a:prstGeom prst="rect">
            <a:avLst/>
          </a:prstGeom>
          <a:noFill/>
          <a:ln/>
        </p:spPr>
        <p:txBody>
          <a:bodyPr wrap="square" lIns="0" tIns="0" rIns="0" bIns="0" rtlCol="0" anchor="ctr"/>
          <a:lstStyle/>
          <a:p>
            <a:pPr marL="0" indent="0">
              <a:buNone/>
            </a:pPr>
            <a:r>
              <a:rPr lang="en-US" sz="2200" b="1" dirty="0">
                <a:solidFill>
                  <a:srgbClr val="17324D"/>
                </a:solidFill>
                <a:latin typeface="Aptos Display" pitchFamily="34" charset="0"/>
                <a:ea typeface="Aptos Display" pitchFamily="34" charset="-122"/>
                <a:cs typeface="Aptos Display" pitchFamily="34" charset="-120"/>
              </a:rPr>
              <a:t>Data and processing approach</a:t>
            </a:r>
            <a:endParaRPr lang="en-US" sz="2200" dirty="0"/>
          </a:p>
        </p:txBody>
      </p:sp>
      <p:sp>
        <p:nvSpPr>
          <p:cNvPr id="4" name="Shape 2"/>
          <p:cNvSpPr/>
          <p:nvPr/>
        </p:nvSpPr>
        <p:spPr>
          <a:xfrm>
            <a:off x="502920" y="1115568"/>
            <a:ext cx="11173968" cy="0"/>
          </a:xfrm>
          <a:prstGeom prst="line">
            <a:avLst/>
          </a:prstGeom>
          <a:noFill/>
          <a:ln w="12700">
            <a:solidFill>
              <a:srgbClr val="E6E9ED"/>
            </a:solidFill>
            <a:prstDash val="solid"/>
          </a:ln>
        </p:spPr>
        <p:txBody>
          <a:bodyPr/>
          <a:lstStyle/>
          <a:p>
            <a:endParaRPr lang="en-US"/>
          </a:p>
        </p:txBody>
      </p:sp>
      <p:sp>
        <p:nvSpPr>
          <p:cNvPr id="5" name="Text 3"/>
          <p:cNvSpPr/>
          <p:nvPr/>
        </p:nvSpPr>
        <p:spPr>
          <a:xfrm>
            <a:off x="640080" y="1417320"/>
            <a:ext cx="2194560" cy="237744"/>
          </a:xfrm>
          <a:prstGeom prst="rect">
            <a:avLst/>
          </a:prstGeom>
          <a:noFill/>
          <a:ln/>
        </p:spPr>
        <p:txBody>
          <a:bodyPr wrap="square" lIns="0" tIns="0" rIns="0" bIns="0" rtlCol="0" anchor="ctr"/>
          <a:lstStyle/>
          <a:p>
            <a:pPr marL="0" indent="0">
              <a:buNone/>
            </a:pPr>
            <a:r>
              <a:rPr lang="en-US" sz="2000" b="1" dirty="0">
                <a:solidFill>
                  <a:srgbClr val="17324D"/>
                </a:solidFill>
              </a:rPr>
              <a:t>Data source</a:t>
            </a:r>
            <a:endParaRPr lang="en-US" sz="2000" dirty="0"/>
          </a:p>
        </p:txBody>
      </p:sp>
      <p:sp>
        <p:nvSpPr>
          <p:cNvPr id="6" name="Text 4"/>
          <p:cNvSpPr/>
          <p:nvPr/>
        </p:nvSpPr>
        <p:spPr>
          <a:xfrm>
            <a:off x="640080" y="1687068"/>
            <a:ext cx="3840480" cy="685800"/>
          </a:xfrm>
          <a:prstGeom prst="rect">
            <a:avLst/>
          </a:prstGeom>
          <a:noFill/>
          <a:ln/>
        </p:spPr>
        <p:txBody>
          <a:bodyPr wrap="square" lIns="0" tIns="0" rIns="0" bIns="0" rtlCol="0" anchor="ctr">
            <a:noAutofit/>
          </a:bodyPr>
          <a:lstStyle/>
          <a:p>
            <a:pPr marL="0" indent="0" algn="just">
              <a:buNone/>
            </a:pPr>
            <a:r>
              <a:rPr lang="en-US" sz="1600" dirty="0">
                <a:solidFill>
                  <a:srgbClr val="1F2937"/>
                </a:solidFill>
              </a:rPr>
              <a:t>Cyclistic/Divvy trip data for January-December 2025, using the most recent complete year in the case study.</a:t>
            </a:r>
            <a:endParaRPr lang="en-US" sz="1600" dirty="0"/>
          </a:p>
        </p:txBody>
      </p:sp>
      <p:sp>
        <p:nvSpPr>
          <p:cNvPr id="7" name="Text 5"/>
          <p:cNvSpPr/>
          <p:nvPr/>
        </p:nvSpPr>
        <p:spPr>
          <a:xfrm>
            <a:off x="640080" y="2788920"/>
            <a:ext cx="2194560" cy="237744"/>
          </a:xfrm>
          <a:prstGeom prst="rect">
            <a:avLst/>
          </a:prstGeom>
          <a:noFill/>
          <a:ln/>
        </p:spPr>
        <p:txBody>
          <a:bodyPr wrap="square" lIns="0" tIns="0" rIns="0" bIns="0" rtlCol="0" anchor="ctr"/>
          <a:lstStyle/>
          <a:p>
            <a:pPr marL="0" indent="0">
              <a:buNone/>
            </a:pPr>
            <a:r>
              <a:rPr lang="en-US" sz="2000" b="1" dirty="0">
                <a:solidFill>
                  <a:srgbClr val="17324D"/>
                </a:solidFill>
              </a:rPr>
              <a:t>Tools</a:t>
            </a:r>
            <a:endParaRPr lang="en-US" sz="2000" dirty="0"/>
          </a:p>
        </p:txBody>
      </p:sp>
      <p:sp>
        <p:nvSpPr>
          <p:cNvPr id="8" name="Text 6"/>
          <p:cNvSpPr/>
          <p:nvPr/>
        </p:nvSpPr>
        <p:spPr>
          <a:xfrm>
            <a:off x="640080" y="3058668"/>
            <a:ext cx="3840480" cy="685800"/>
          </a:xfrm>
          <a:prstGeom prst="rect">
            <a:avLst/>
          </a:prstGeom>
          <a:noFill/>
          <a:ln/>
        </p:spPr>
        <p:txBody>
          <a:bodyPr wrap="square" lIns="0" tIns="0" rIns="0" bIns="0" rtlCol="0" anchor="ctr">
            <a:noAutofit/>
          </a:bodyPr>
          <a:lstStyle/>
          <a:p>
            <a:pPr marL="0" indent="0" algn="just">
              <a:buNone/>
            </a:pPr>
            <a:r>
              <a:rPr lang="en-US" sz="1600" dirty="0">
                <a:solidFill>
                  <a:srgbClr val="1F2937"/>
                </a:solidFill>
              </a:rPr>
              <a:t>RStudio with tidyverse and lubridate for processing and visualisation; Excel for validation, filtering, and exploratory checks.</a:t>
            </a:r>
            <a:endParaRPr lang="en-US" sz="1600" dirty="0"/>
          </a:p>
        </p:txBody>
      </p:sp>
      <p:sp>
        <p:nvSpPr>
          <p:cNvPr id="9" name="Text 7"/>
          <p:cNvSpPr/>
          <p:nvPr/>
        </p:nvSpPr>
        <p:spPr>
          <a:xfrm>
            <a:off x="640080" y="4160520"/>
            <a:ext cx="2743200" cy="237744"/>
          </a:xfrm>
          <a:prstGeom prst="rect">
            <a:avLst/>
          </a:prstGeom>
          <a:noFill/>
          <a:ln/>
        </p:spPr>
        <p:txBody>
          <a:bodyPr wrap="square" lIns="0" tIns="0" rIns="0" bIns="0" rtlCol="0" anchor="ctr"/>
          <a:lstStyle/>
          <a:p>
            <a:pPr marL="0" indent="0">
              <a:buNone/>
            </a:pPr>
            <a:r>
              <a:rPr lang="en-US" sz="2000" b="1" dirty="0">
                <a:solidFill>
                  <a:srgbClr val="17324D"/>
                </a:solidFill>
              </a:rPr>
              <a:t>My Cleaning decisions</a:t>
            </a:r>
            <a:endParaRPr lang="en-US" sz="2000" dirty="0"/>
          </a:p>
        </p:txBody>
      </p:sp>
      <p:sp>
        <p:nvSpPr>
          <p:cNvPr id="10" name="Text 8"/>
          <p:cNvSpPr/>
          <p:nvPr/>
        </p:nvSpPr>
        <p:spPr>
          <a:xfrm>
            <a:off x="640080" y="4425697"/>
            <a:ext cx="3886200" cy="1801361"/>
          </a:xfrm>
          <a:prstGeom prst="rect">
            <a:avLst/>
          </a:prstGeom>
          <a:noFill/>
          <a:ln/>
        </p:spPr>
        <p:txBody>
          <a:bodyPr wrap="square" lIns="254" tIns="254" rIns="254" bIns="254" rtlCol="0" anchor="ctr">
            <a:noAutofit/>
          </a:bodyPr>
          <a:lstStyle/>
          <a:p>
            <a:pPr marL="171450" indent="-171450" algn="just">
              <a:buFont typeface="Arial" panose="020B0604020202020204" pitchFamily="34" charset="0"/>
              <a:buChar char="•"/>
            </a:pPr>
            <a:r>
              <a:rPr lang="en-US" sz="1600" dirty="0">
                <a:solidFill>
                  <a:srgbClr val="1F2937"/>
                </a:solidFill>
              </a:rPr>
              <a:t>Created ride length, month, day of week, and hour fields.</a:t>
            </a:r>
            <a:endParaRPr lang="en-US" sz="1600" dirty="0"/>
          </a:p>
          <a:p>
            <a:pPr marL="171450" indent="-171450" algn="just">
              <a:buFont typeface="Arial" panose="020B0604020202020204" pitchFamily="34" charset="0"/>
              <a:buChar char="•"/>
            </a:pPr>
            <a:r>
              <a:rPr lang="en-US" sz="1600" dirty="0">
                <a:solidFill>
                  <a:srgbClr val="1F2937"/>
                </a:solidFill>
              </a:rPr>
              <a:t>Removed rides with zero/negative duration and rides over 24 hours.</a:t>
            </a:r>
            <a:endParaRPr lang="en-US" sz="1600" dirty="0"/>
          </a:p>
          <a:p>
            <a:pPr marL="171450" indent="-171450" algn="just">
              <a:buFont typeface="Arial" panose="020B0604020202020204" pitchFamily="34" charset="0"/>
              <a:buChar char="•"/>
            </a:pPr>
            <a:r>
              <a:rPr lang="en-US" sz="1600" dirty="0">
                <a:solidFill>
                  <a:srgbClr val="1F2937"/>
                </a:solidFill>
              </a:rPr>
              <a:t>Focused on rider type, timing, duration, and bike type; route analysis was excluded due to missing station fields.</a:t>
            </a:r>
            <a:endParaRPr lang="en-US" sz="1600" dirty="0"/>
          </a:p>
        </p:txBody>
      </p:sp>
      <p:sp>
        <p:nvSpPr>
          <p:cNvPr id="11" name="Shape 9"/>
          <p:cNvSpPr/>
          <p:nvPr/>
        </p:nvSpPr>
        <p:spPr>
          <a:xfrm>
            <a:off x="6288996" y="2282952"/>
            <a:ext cx="977577" cy="783769"/>
          </a:xfrm>
          <a:prstGeom prst="chevron">
            <a:avLst/>
          </a:prstGeom>
          <a:solidFill>
            <a:srgbClr val="F8766D"/>
          </a:solidFill>
          <a:ln w="12700">
            <a:solidFill>
              <a:srgbClr val="F8766D"/>
            </a:solidFill>
            <a:prstDash val="solid"/>
          </a:ln>
        </p:spPr>
        <p:txBody>
          <a:bodyPr/>
          <a:lstStyle/>
          <a:p>
            <a:endParaRPr lang="en-US"/>
          </a:p>
        </p:txBody>
      </p:sp>
      <p:sp>
        <p:nvSpPr>
          <p:cNvPr id="12" name="Shape 10"/>
          <p:cNvSpPr/>
          <p:nvPr/>
        </p:nvSpPr>
        <p:spPr>
          <a:xfrm>
            <a:off x="7477716" y="2282952"/>
            <a:ext cx="977577" cy="783769"/>
          </a:xfrm>
          <a:prstGeom prst="chevron">
            <a:avLst/>
          </a:prstGeom>
          <a:solidFill>
            <a:srgbClr val="00BFC4"/>
          </a:solidFill>
          <a:ln w="12700">
            <a:solidFill>
              <a:srgbClr val="00BFC4"/>
            </a:solidFill>
            <a:prstDash val="solid"/>
          </a:ln>
        </p:spPr>
        <p:txBody>
          <a:bodyPr/>
          <a:lstStyle/>
          <a:p>
            <a:endParaRPr lang="en-US"/>
          </a:p>
        </p:txBody>
      </p:sp>
      <p:sp>
        <p:nvSpPr>
          <p:cNvPr id="13" name="Shape 11"/>
          <p:cNvSpPr/>
          <p:nvPr/>
        </p:nvSpPr>
        <p:spPr>
          <a:xfrm>
            <a:off x="8666436" y="2282952"/>
            <a:ext cx="977577" cy="783769"/>
          </a:xfrm>
          <a:prstGeom prst="chevron">
            <a:avLst/>
          </a:prstGeom>
          <a:solidFill>
            <a:srgbClr val="F8766D"/>
          </a:solidFill>
          <a:ln w="12700">
            <a:solidFill>
              <a:srgbClr val="F8766D"/>
            </a:solidFill>
            <a:prstDash val="solid"/>
          </a:ln>
        </p:spPr>
        <p:txBody>
          <a:bodyPr/>
          <a:lstStyle/>
          <a:p>
            <a:endParaRPr lang="en-US"/>
          </a:p>
        </p:txBody>
      </p:sp>
      <p:sp>
        <p:nvSpPr>
          <p:cNvPr id="14" name="Shape 12"/>
          <p:cNvSpPr/>
          <p:nvPr/>
        </p:nvSpPr>
        <p:spPr>
          <a:xfrm>
            <a:off x="9809436" y="2282952"/>
            <a:ext cx="977577" cy="783769"/>
          </a:xfrm>
          <a:prstGeom prst="chevron">
            <a:avLst/>
          </a:prstGeom>
          <a:solidFill>
            <a:srgbClr val="00BFC4"/>
          </a:solidFill>
          <a:ln w="12700">
            <a:solidFill>
              <a:srgbClr val="00BFC4"/>
            </a:solidFill>
            <a:prstDash val="solid"/>
          </a:ln>
        </p:spPr>
        <p:txBody>
          <a:bodyPr/>
          <a:lstStyle/>
          <a:p>
            <a:endParaRPr lang="en-US"/>
          </a:p>
        </p:txBody>
      </p:sp>
      <p:sp>
        <p:nvSpPr>
          <p:cNvPr id="15" name="Text 13"/>
          <p:cNvSpPr/>
          <p:nvPr/>
        </p:nvSpPr>
        <p:spPr>
          <a:xfrm>
            <a:off x="6060396" y="3179065"/>
            <a:ext cx="1443089" cy="440870"/>
          </a:xfrm>
          <a:prstGeom prst="rect">
            <a:avLst/>
          </a:prstGeom>
          <a:noFill/>
          <a:ln/>
        </p:spPr>
        <p:txBody>
          <a:bodyPr wrap="square" lIns="0" tIns="0" rIns="0" bIns="0" rtlCol="0" anchor="ctr"/>
          <a:lstStyle/>
          <a:p>
            <a:pPr marL="0" indent="0" algn="ctr">
              <a:buNone/>
            </a:pPr>
            <a:r>
              <a:rPr lang="en-US" sz="950" b="1" dirty="0">
                <a:solidFill>
                  <a:srgbClr val="1F2937"/>
                </a:solidFill>
              </a:rPr>
              <a:t>Read monthly CSV</a:t>
            </a:r>
            <a:endParaRPr lang="en-US" sz="950" dirty="0"/>
          </a:p>
        </p:txBody>
      </p:sp>
      <p:sp>
        <p:nvSpPr>
          <p:cNvPr id="16" name="Text 14"/>
          <p:cNvSpPr/>
          <p:nvPr/>
        </p:nvSpPr>
        <p:spPr>
          <a:xfrm>
            <a:off x="7386276" y="3179065"/>
            <a:ext cx="1117231" cy="440870"/>
          </a:xfrm>
          <a:prstGeom prst="rect">
            <a:avLst/>
          </a:prstGeom>
          <a:noFill/>
          <a:ln/>
        </p:spPr>
        <p:txBody>
          <a:bodyPr wrap="square" lIns="0" tIns="0" rIns="0" bIns="0" rtlCol="0" anchor="ctr"/>
          <a:lstStyle/>
          <a:p>
            <a:pPr marL="0" indent="0" algn="ctr">
              <a:buNone/>
            </a:pPr>
            <a:r>
              <a:rPr lang="en-US" sz="950" b="1" dirty="0">
                <a:solidFill>
                  <a:srgbClr val="1F2937"/>
                </a:solidFill>
              </a:rPr>
              <a:t>Summarise</a:t>
            </a:r>
            <a:endParaRPr lang="en-US" sz="950" dirty="0"/>
          </a:p>
        </p:txBody>
      </p:sp>
      <p:sp>
        <p:nvSpPr>
          <p:cNvPr id="17" name="Text 15"/>
          <p:cNvSpPr/>
          <p:nvPr/>
        </p:nvSpPr>
        <p:spPr>
          <a:xfrm>
            <a:off x="8437837" y="3179065"/>
            <a:ext cx="1536192" cy="440870"/>
          </a:xfrm>
          <a:prstGeom prst="rect">
            <a:avLst/>
          </a:prstGeom>
          <a:noFill/>
          <a:ln/>
        </p:spPr>
        <p:txBody>
          <a:bodyPr wrap="square" lIns="0" tIns="0" rIns="0" bIns="0" rtlCol="0" anchor="ctr"/>
          <a:lstStyle/>
          <a:p>
            <a:pPr marL="0" indent="0" algn="ctr">
              <a:buNone/>
            </a:pPr>
            <a:r>
              <a:rPr lang="en-US" sz="950" b="1" dirty="0">
                <a:solidFill>
                  <a:srgbClr val="1F2937"/>
                </a:solidFill>
              </a:rPr>
              <a:t>Append summaries</a:t>
            </a:r>
            <a:endParaRPr lang="en-US" sz="950" dirty="0"/>
          </a:p>
        </p:txBody>
      </p:sp>
      <p:sp>
        <p:nvSpPr>
          <p:cNvPr id="18" name="Text 16"/>
          <p:cNvSpPr/>
          <p:nvPr/>
        </p:nvSpPr>
        <p:spPr>
          <a:xfrm>
            <a:off x="9763716" y="3179065"/>
            <a:ext cx="1070679" cy="440870"/>
          </a:xfrm>
          <a:prstGeom prst="rect">
            <a:avLst/>
          </a:prstGeom>
          <a:noFill/>
          <a:ln/>
        </p:spPr>
        <p:txBody>
          <a:bodyPr wrap="square" lIns="0" tIns="0" rIns="0" bIns="0" rtlCol="0" anchor="ctr"/>
          <a:lstStyle/>
          <a:p>
            <a:pPr marL="0" indent="0" algn="ctr">
              <a:buNone/>
            </a:pPr>
            <a:r>
              <a:rPr lang="en-US" sz="950" b="1" dirty="0">
                <a:solidFill>
                  <a:srgbClr val="1F2937"/>
                </a:solidFill>
              </a:rPr>
              <a:t>Visualise</a:t>
            </a:r>
            <a:endParaRPr lang="en-US" sz="950" dirty="0"/>
          </a:p>
        </p:txBody>
      </p:sp>
      <p:sp>
        <p:nvSpPr>
          <p:cNvPr id="19" name="Text 17"/>
          <p:cNvSpPr/>
          <p:nvPr/>
        </p:nvSpPr>
        <p:spPr>
          <a:xfrm>
            <a:off x="6060397" y="1688592"/>
            <a:ext cx="4841332" cy="293913"/>
          </a:xfrm>
          <a:prstGeom prst="rect">
            <a:avLst/>
          </a:prstGeom>
          <a:noFill/>
          <a:ln/>
        </p:spPr>
        <p:txBody>
          <a:bodyPr wrap="square" lIns="0" tIns="0" rIns="0" bIns="0" rtlCol="0" anchor="ctr"/>
          <a:lstStyle/>
          <a:p>
            <a:pPr marL="0" indent="0" algn="ctr">
              <a:buNone/>
            </a:pPr>
            <a:r>
              <a:rPr lang="en-US" sz="2200" b="1" dirty="0" err="1">
                <a:solidFill>
                  <a:srgbClr val="17324D"/>
                </a:solidFill>
              </a:rPr>
              <a:t>Rstudio</a:t>
            </a:r>
            <a:r>
              <a:rPr lang="en-US" sz="2200" b="1" dirty="0">
                <a:solidFill>
                  <a:srgbClr val="17324D"/>
                </a:solidFill>
              </a:rPr>
              <a:t> workflow*</a:t>
            </a:r>
            <a:endParaRPr lang="en-US" sz="2200" dirty="0"/>
          </a:p>
        </p:txBody>
      </p:sp>
      <p:sp>
        <p:nvSpPr>
          <p:cNvPr id="20" name="Text 18"/>
          <p:cNvSpPr/>
          <p:nvPr/>
        </p:nvSpPr>
        <p:spPr>
          <a:xfrm>
            <a:off x="5968957" y="3663697"/>
            <a:ext cx="5120640" cy="1097273"/>
          </a:xfrm>
          <a:prstGeom prst="rect">
            <a:avLst/>
          </a:prstGeom>
          <a:noFill/>
          <a:ln/>
        </p:spPr>
        <p:txBody>
          <a:bodyPr wrap="square" lIns="0" tIns="0" rIns="0" bIns="0" rtlCol="0" anchor="ctr">
            <a:noAutofit/>
          </a:bodyPr>
          <a:lstStyle/>
          <a:p>
            <a:pPr marL="0" indent="0" algn="ctr">
              <a:buNone/>
            </a:pPr>
            <a:r>
              <a:rPr lang="en-US" sz="1400" i="1" dirty="0">
                <a:solidFill>
                  <a:srgbClr val="1F2937"/>
                </a:solidFill>
              </a:rPr>
              <a:t>Basically, instead of forcing all raw rows into one massive table, each file was processed individually and collapsed into small summary tables for ease due to </a:t>
            </a:r>
            <a:r>
              <a:rPr lang="en-US" sz="1400" i="1" dirty="0" err="1">
                <a:solidFill>
                  <a:srgbClr val="1F2937"/>
                </a:solidFill>
              </a:rPr>
              <a:t>Rstudio’s</a:t>
            </a:r>
            <a:r>
              <a:rPr lang="en-US" sz="1400" i="1" dirty="0">
                <a:solidFill>
                  <a:srgbClr val="1F2937"/>
                </a:solidFill>
              </a:rPr>
              <a:t> memory limitation.</a:t>
            </a:r>
            <a:endParaRPr lang="en-US" sz="1400" i="1" dirty="0"/>
          </a:p>
        </p:txBody>
      </p:sp>
      <p:sp>
        <p:nvSpPr>
          <p:cNvPr id="21" name="Shape 19"/>
          <p:cNvSpPr/>
          <p:nvPr/>
        </p:nvSpPr>
        <p:spPr>
          <a:xfrm>
            <a:off x="5806440" y="5280661"/>
            <a:ext cx="5870448" cy="868673"/>
          </a:xfrm>
          <a:prstGeom prst="roundRect">
            <a:avLst>
              <a:gd name="adj" fmla="val 10000"/>
            </a:avLst>
          </a:prstGeom>
          <a:solidFill>
            <a:srgbClr val="FFFFFF"/>
          </a:solidFill>
          <a:ln w="12700">
            <a:solidFill>
              <a:srgbClr val="E6E9ED"/>
            </a:solidFill>
            <a:prstDash val="solid"/>
          </a:ln>
        </p:spPr>
        <p:txBody>
          <a:bodyPr/>
          <a:lstStyle/>
          <a:p>
            <a:endParaRPr lang="en-US"/>
          </a:p>
        </p:txBody>
      </p:sp>
      <p:sp>
        <p:nvSpPr>
          <p:cNvPr id="22" name="Shape 20"/>
          <p:cNvSpPr/>
          <p:nvPr/>
        </p:nvSpPr>
        <p:spPr>
          <a:xfrm>
            <a:off x="5806439" y="5280661"/>
            <a:ext cx="93927" cy="868673"/>
          </a:xfrm>
          <a:prstGeom prst="rect">
            <a:avLst/>
          </a:prstGeom>
          <a:solidFill>
            <a:srgbClr val="17324D"/>
          </a:solidFill>
          <a:ln w="12700">
            <a:solidFill>
              <a:srgbClr val="17324D"/>
            </a:solidFill>
            <a:prstDash val="solid"/>
          </a:ln>
        </p:spPr>
        <p:txBody>
          <a:bodyPr/>
          <a:lstStyle/>
          <a:p>
            <a:endParaRPr lang="en-US"/>
          </a:p>
        </p:txBody>
      </p:sp>
      <p:sp>
        <p:nvSpPr>
          <p:cNvPr id="23" name="Text 21"/>
          <p:cNvSpPr/>
          <p:nvPr/>
        </p:nvSpPr>
        <p:spPr>
          <a:xfrm>
            <a:off x="6007607" y="5426966"/>
            <a:ext cx="5459517" cy="260602"/>
          </a:xfrm>
          <a:prstGeom prst="rect">
            <a:avLst/>
          </a:prstGeom>
          <a:noFill/>
          <a:ln/>
        </p:spPr>
        <p:txBody>
          <a:bodyPr wrap="square" lIns="0" tIns="0" rIns="0" bIns="0" rtlCol="0" anchor="ctr"/>
          <a:lstStyle/>
          <a:p>
            <a:pPr marL="0" indent="0">
              <a:buNone/>
            </a:pPr>
            <a:r>
              <a:rPr lang="en-US" sz="950" b="1" dirty="0">
                <a:solidFill>
                  <a:srgbClr val="17324D"/>
                </a:solidFill>
              </a:rPr>
              <a:t>Portfolio note</a:t>
            </a:r>
            <a:endParaRPr lang="en-US" sz="950" dirty="0"/>
          </a:p>
        </p:txBody>
      </p:sp>
      <p:sp>
        <p:nvSpPr>
          <p:cNvPr id="24" name="Text 22"/>
          <p:cNvSpPr/>
          <p:nvPr/>
        </p:nvSpPr>
        <p:spPr>
          <a:xfrm>
            <a:off x="6007607" y="5719573"/>
            <a:ext cx="5459517" cy="195451"/>
          </a:xfrm>
          <a:prstGeom prst="rect">
            <a:avLst/>
          </a:prstGeom>
          <a:noFill/>
          <a:ln/>
        </p:spPr>
        <p:txBody>
          <a:bodyPr wrap="square" lIns="0" tIns="0" rIns="0" bIns="0" rtlCol="0" anchor="t">
            <a:normAutofit/>
          </a:bodyPr>
          <a:lstStyle/>
          <a:p>
            <a:pPr marL="0" indent="0">
              <a:buNone/>
            </a:pPr>
            <a:r>
              <a:rPr lang="en-US" sz="840" dirty="0">
                <a:solidFill>
                  <a:srgbClr val="1F2937"/>
                </a:solidFill>
              </a:rPr>
              <a:t>The workflow is transparent, reproducible, and suited to limited cloud resources.</a:t>
            </a:r>
            <a:endParaRPr lang="en-US" sz="840" dirty="0"/>
          </a:p>
        </p:txBody>
      </p:sp>
      <p:sp>
        <p:nvSpPr>
          <p:cNvPr id="25" name="Text 23"/>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26" name="Text 24"/>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03</a:t>
            </a:r>
            <a:endParaRPr lang="en-US" sz="750" dirty="0"/>
          </a:p>
        </p:txBody>
      </p:sp>
      <p:sp>
        <p:nvSpPr>
          <p:cNvPr id="28" name="Text 4">
            <a:extLst>
              <a:ext uri="{FF2B5EF4-FFF2-40B4-BE49-F238E27FC236}">
                <a16:creationId xmlns:a16="http://schemas.microsoft.com/office/drawing/2014/main" id="{5D4A04BE-714A-4E1E-46CD-46784ECF53EB}"/>
              </a:ext>
            </a:extLst>
          </p:cNvPr>
          <p:cNvSpPr/>
          <p:nvPr/>
        </p:nvSpPr>
        <p:spPr>
          <a:xfrm>
            <a:off x="9602367" y="1780066"/>
            <a:ext cx="1864757" cy="205716"/>
          </a:xfrm>
          <a:prstGeom prst="rect">
            <a:avLst/>
          </a:prstGeom>
          <a:noFill/>
          <a:ln/>
        </p:spPr>
        <p:txBody>
          <a:bodyPr wrap="square" lIns="0" tIns="0" rIns="0" bIns="0" rtlCol="0" anchor="ctr">
            <a:noAutofit/>
          </a:bodyPr>
          <a:lstStyle/>
          <a:p>
            <a:pPr marL="0" indent="0" algn="just">
              <a:buNone/>
            </a:pPr>
            <a:r>
              <a:rPr lang="en-US" sz="800" dirty="0">
                <a:solidFill>
                  <a:srgbClr val="1F2937"/>
                </a:solidFill>
              </a:rPr>
              <a:t>* Memory limit-safe</a:t>
            </a:r>
            <a:endParaRPr lang="en-US" sz="800" dirty="0"/>
          </a:p>
        </p:txBody>
      </p:sp>
      <p:sp>
        <p:nvSpPr>
          <p:cNvPr id="29" name="Shape 19">
            <a:extLst>
              <a:ext uri="{FF2B5EF4-FFF2-40B4-BE49-F238E27FC236}">
                <a16:creationId xmlns:a16="http://schemas.microsoft.com/office/drawing/2014/main" id="{2AF654E2-54A4-867A-2B5B-D6AADD4F0B3F}"/>
              </a:ext>
            </a:extLst>
          </p:cNvPr>
          <p:cNvSpPr/>
          <p:nvPr/>
        </p:nvSpPr>
        <p:spPr>
          <a:xfrm>
            <a:off x="5760720" y="1412761"/>
            <a:ext cx="5870448" cy="3479273"/>
          </a:xfrm>
          <a:prstGeom prst="roundRect">
            <a:avLst>
              <a:gd name="adj" fmla="val 10000"/>
            </a:avLst>
          </a:prstGeom>
          <a:noFill/>
          <a:ln w="12700">
            <a:solidFill>
              <a:srgbClr val="E6E9ED"/>
            </a:solidFill>
            <a:prstDash val="solid"/>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4389120" cy="201168"/>
          </a:xfrm>
          <a:prstGeom prst="rect">
            <a:avLst/>
          </a:prstGeom>
          <a:noFill/>
          <a:ln/>
        </p:spPr>
        <p:txBody>
          <a:bodyPr wrap="square" rtlCol="0" anchor="ctr"/>
          <a:lstStyle/>
          <a:p>
            <a:pPr marL="0" indent="0">
              <a:buNone/>
            </a:pPr>
            <a:r>
              <a:rPr lang="en-US" sz="750" b="1" dirty="0">
                <a:solidFill>
                  <a:srgbClr val="00BFC4"/>
                </a:solidFill>
                <a:latin typeface="Aptos" pitchFamily="34" charset="0"/>
                <a:ea typeface="Aptos" pitchFamily="34" charset="-122"/>
                <a:cs typeface="Aptos" pitchFamily="34" charset="-120"/>
              </a:rPr>
              <a:t>CYCLISTIC BIKE-SHARE CASE STUDY</a:t>
            </a:r>
            <a:endParaRPr lang="en-US" sz="750" dirty="0"/>
          </a:p>
        </p:txBody>
      </p:sp>
      <p:sp>
        <p:nvSpPr>
          <p:cNvPr id="3" name="Text 1"/>
          <p:cNvSpPr/>
          <p:nvPr/>
        </p:nvSpPr>
        <p:spPr>
          <a:xfrm>
            <a:off x="502920" y="530352"/>
            <a:ext cx="10515600" cy="502920"/>
          </a:xfrm>
          <a:prstGeom prst="rect">
            <a:avLst/>
          </a:prstGeom>
          <a:noFill/>
          <a:ln/>
        </p:spPr>
        <p:txBody>
          <a:bodyPr wrap="square" lIns="0" tIns="0" rIns="0" bIns="0" rtlCol="0" anchor="ctr"/>
          <a:lstStyle/>
          <a:p>
            <a:pPr marL="0" indent="0">
              <a:buNone/>
            </a:pPr>
            <a:r>
              <a:rPr lang="en-US" sz="2200" b="1" dirty="0">
                <a:solidFill>
                  <a:srgbClr val="17324D"/>
                </a:solidFill>
                <a:latin typeface="Aptos Display" pitchFamily="34" charset="0"/>
                <a:ea typeface="Aptos Display" pitchFamily="34" charset="-122"/>
                <a:cs typeface="Aptos Display" pitchFamily="34" charset="-120"/>
              </a:rPr>
              <a:t>Members ride more often; casual riders ride longer</a:t>
            </a:r>
            <a:endParaRPr lang="en-US" sz="2200" dirty="0"/>
          </a:p>
        </p:txBody>
      </p:sp>
      <p:sp>
        <p:nvSpPr>
          <p:cNvPr id="4" name="Shape 2"/>
          <p:cNvSpPr/>
          <p:nvPr/>
        </p:nvSpPr>
        <p:spPr>
          <a:xfrm>
            <a:off x="502920" y="1115568"/>
            <a:ext cx="11173968" cy="0"/>
          </a:xfrm>
          <a:prstGeom prst="line">
            <a:avLst/>
          </a:prstGeom>
          <a:noFill/>
          <a:ln w="12700">
            <a:solidFill>
              <a:srgbClr val="E6E9ED"/>
            </a:solidFill>
            <a:prstDash val="solid"/>
          </a:ln>
        </p:spPr>
        <p:txBody>
          <a:bodyPr/>
          <a:lstStyle/>
          <a:p>
            <a:endParaRPr lang="en-US"/>
          </a:p>
        </p:txBody>
      </p:sp>
      <p:sp>
        <p:nvSpPr>
          <p:cNvPr id="5" name="Shape 3"/>
          <p:cNvSpPr/>
          <p:nvPr/>
        </p:nvSpPr>
        <p:spPr>
          <a:xfrm>
            <a:off x="502920" y="1325880"/>
            <a:ext cx="5532120" cy="4251960"/>
          </a:xfrm>
          <a:prstGeom prst="roundRect">
            <a:avLst>
              <a:gd name="adj" fmla="val 1720"/>
            </a:avLst>
          </a:prstGeom>
          <a:solidFill>
            <a:srgbClr val="FFFFFF"/>
          </a:solidFill>
          <a:ln w="12700">
            <a:solidFill>
              <a:srgbClr val="E6E9ED"/>
            </a:solidFill>
            <a:prstDash val="solid"/>
          </a:ln>
        </p:spPr>
        <p:txBody>
          <a:bodyPr/>
          <a:lstStyle/>
          <a:p>
            <a:endParaRPr lang="en-US"/>
          </a:p>
        </p:txBody>
      </p:sp>
      <p:pic>
        <p:nvPicPr>
          <p:cNvPr id="6" name="Image 0" descr="/mnt/data/Q1vis.png"/>
          <p:cNvPicPr>
            <a:picLocks noChangeAspect="1"/>
          </p:cNvPicPr>
          <p:nvPr/>
        </p:nvPicPr>
        <p:blipFill>
          <a:blip r:embed="rId3"/>
          <a:srcRect/>
          <a:stretch/>
        </p:blipFill>
        <p:spPr>
          <a:xfrm>
            <a:off x="576072" y="1399032"/>
            <a:ext cx="5385816" cy="4105656"/>
          </a:xfrm>
          <a:prstGeom prst="rect">
            <a:avLst/>
          </a:prstGeom>
        </p:spPr>
      </p:pic>
      <p:sp>
        <p:nvSpPr>
          <p:cNvPr id="7" name="Shape 4"/>
          <p:cNvSpPr/>
          <p:nvPr/>
        </p:nvSpPr>
        <p:spPr>
          <a:xfrm>
            <a:off x="6263640" y="1325880"/>
            <a:ext cx="5394960" cy="4251960"/>
          </a:xfrm>
          <a:prstGeom prst="roundRect">
            <a:avLst>
              <a:gd name="adj" fmla="val 1720"/>
            </a:avLst>
          </a:prstGeom>
          <a:solidFill>
            <a:srgbClr val="FFFFFF"/>
          </a:solidFill>
          <a:ln w="12700">
            <a:solidFill>
              <a:srgbClr val="E6E9ED"/>
            </a:solidFill>
            <a:prstDash val="solid"/>
          </a:ln>
        </p:spPr>
        <p:txBody>
          <a:bodyPr/>
          <a:lstStyle/>
          <a:p>
            <a:endParaRPr lang="en-US"/>
          </a:p>
        </p:txBody>
      </p:sp>
      <p:pic>
        <p:nvPicPr>
          <p:cNvPr id="8" name="Image 1" descr="/mnt/data/Q2vis.png"/>
          <p:cNvPicPr>
            <a:picLocks noChangeAspect="1"/>
          </p:cNvPicPr>
          <p:nvPr/>
        </p:nvPicPr>
        <p:blipFill>
          <a:blip r:embed="rId4"/>
          <a:srcRect/>
          <a:stretch/>
        </p:blipFill>
        <p:spPr>
          <a:xfrm>
            <a:off x="6336792" y="1399032"/>
            <a:ext cx="5248656" cy="4105656"/>
          </a:xfrm>
          <a:prstGeom prst="rect">
            <a:avLst/>
          </a:prstGeom>
        </p:spPr>
      </p:pic>
      <p:sp>
        <p:nvSpPr>
          <p:cNvPr id="9" name="Shape 5"/>
          <p:cNvSpPr/>
          <p:nvPr/>
        </p:nvSpPr>
        <p:spPr>
          <a:xfrm>
            <a:off x="914400" y="5715000"/>
            <a:ext cx="10332720" cy="640080"/>
          </a:xfrm>
          <a:prstGeom prst="roundRect">
            <a:avLst>
              <a:gd name="adj" fmla="val 11429"/>
            </a:avLst>
          </a:prstGeom>
          <a:solidFill>
            <a:srgbClr val="FFFFFF"/>
          </a:solidFill>
          <a:ln w="12700">
            <a:solidFill>
              <a:srgbClr val="E6E9ED"/>
            </a:solidFill>
            <a:prstDash val="solid"/>
          </a:ln>
        </p:spPr>
        <p:txBody>
          <a:bodyPr/>
          <a:lstStyle/>
          <a:p>
            <a:endParaRPr lang="en-US"/>
          </a:p>
        </p:txBody>
      </p:sp>
      <p:sp>
        <p:nvSpPr>
          <p:cNvPr id="10" name="Shape 6"/>
          <p:cNvSpPr/>
          <p:nvPr/>
        </p:nvSpPr>
        <p:spPr>
          <a:xfrm>
            <a:off x="914400" y="5715000"/>
            <a:ext cx="73152" cy="640080"/>
          </a:xfrm>
          <a:prstGeom prst="rect">
            <a:avLst/>
          </a:prstGeom>
          <a:solidFill>
            <a:srgbClr val="F8766D"/>
          </a:solidFill>
          <a:ln w="12700">
            <a:solidFill>
              <a:srgbClr val="F8766D"/>
            </a:solidFill>
            <a:prstDash val="solid"/>
          </a:ln>
        </p:spPr>
        <p:txBody>
          <a:bodyPr/>
          <a:lstStyle/>
          <a:p>
            <a:endParaRPr lang="en-US"/>
          </a:p>
        </p:txBody>
      </p:sp>
      <p:sp>
        <p:nvSpPr>
          <p:cNvPr id="11" name="Text 7"/>
          <p:cNvSpPr/>
          <p:nvPr/>
        </p:nvSpPr>
        <p:spPr>
          <a:xfrm>
            <a:off x="1028700" y="5742432"/>
            <a:ext cx="10012680" cy="219456"/>
          </a:xfrm>
          <a:prstGeom prst="rect">
            <a:avLst/>
          </a:prstGeom>
          <a:noFill/>
          <a:ln/>
        </p:spPr>
        <p:txBody>
          <a:bodyPr wrap="square" lIns="0" tIns="0" rIns="0" bIns="0" rtlCol="0" anchor="ctr"/>
          <a:lstStyle/>
          <a:p>
            <a:pPr marL="0" indent="0">
              <a:buNone/>
            </a:pPr>
            <a:r>
              <a:rPr lang="en-US" sz="1400" b="1" dirty="0">
                <a:solidFill>
                  <a:srgbClr val="17324D"/>
                </a:solidFill>
              </a:rPr>
              <a:t>Key interpretation</a:t>
            </a:r>
            <a:endParaRPr lang="en-US" sz="1400" dirty="0"/>
          </a:p>
        </p:txBody>
      </p:sp>
      <p:sp>
        <p:nvSpPr>
          <p:cNvPr id="12" name="Text 8"/>
          <p:cNvSpPr/>
          <p:nvPr/>
        </p:nvSpPr>
        <p:spPr>
          <a:xfrm>
            <a:off x="1028700" y="5961888"/>
            <a:ext cx="10172700" cy="347472"/>
          </a:xfrm>
          <a:prstGeom prst="rect">
            <a:avLst/>
          </a:prstGeom>
          <a:noFill/>
          <a:ln/>
        </p:spPr>
        <p:txBody>
          <a:bodyPr wrap="square" lIns="0" tIns="0" rIns="0" bIns="0" rtlCol="0" anchor="t">
            <a:noAutofit/>
          </a:bodyPr>
          <a:lstStyle/>
          <a:p>
            <a:pPr marL="0" indent="0">
              <a:buNone/>
            </a:pPr>
            <a:r>
              <a:rPr lang="en-US" sz="1000" dirty="0">
                <a:solidFill>
                  <a:srgbClr val="1F2937"/>
                </a:solidFill>
              </a:rPr>
              <a:t>Members generated 3,552,553 rides in 2025, compared with 1,994,774 casual rides. However, casual riders averaged 19.3 minutes per ride versus 11.95 minutes for members, suggesting lower frequency but more discretionary or leisure-oriented use.</a:t>
            </a:r>
            <a:endParaRPr lang="en-US" sz="1000" dirty="0"/>
          </a:p>
        </p:txBody>
      </p:sp>
      <p:sp>
        <p:nvSpPr>
          <p:cNvPr id="13" name="Text 9"/>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14" name="Text 10"/>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04</a:t>
            </a:r>
            <a:endParaRPr lang="en-US" sz="7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4389120" cy="201168"/>
          </a:xfrm>
          <a:prstGeom prst="rect">
            <a:avLst/>
          </a:prstGeom>
          <a:noFill/>
          <a:ln/>
        </p:spPr>
        <p:txBody>
          <a:bodyPr wrap="square" rtlCol="0" anchor="ctr"/>
          <a:lstStyle/>
          <a:p>
            <a:pPr marL="0" indent="0">
              <a:buNone/>
            </a:pPr>
            <a:r>
              <a:rPr lang="en-US" sz="750" b="1" dirty="0">
                <a:solidFill>
                  <a:srgbClr val="00BFC4"/>
                </a:solidFill>
                <a:latin typeface="Aptos" pitchFamily="34" charset="0"/>
                <a:ea typeface="Aptos" pitchFamily="34" charset="-122"/>
                <a:cs typeface="Aptos" pitchFamily="34" charset="-120"/>
              </a:rPr>
              <a:t>CYCLISTIC BIKE-SHARE CASE STUDY</a:t>
            </a:r>
            <a:endParaRPr lang="en-US" sz="750" dirty="0"/>
          </a:p>
        </p:txBody>
      </p:sp>
      <p:sp>
        <p:nvSpPr>
          <p:cNvPr id="3" name="Text 1"/>
          <p:cNvSpPr/>
          <p:nvPr/>
        </p:nvSpPr>
        <p:spPr>
          <a:xfrm>
            <a:off x="502920" y="530352"/>
            <a:ext cx="10515600" cy="502920"/>
          </a:xfrm>
          <a:prstGeom prst="rect">
            <a:avLst/>
          </a:prstGeom>
          <a:noFill/>
          <a:ln/>
        </p:spPr>
        <p:txBody>
          <a:bodyPr wrap="square" lIns="0" tIns="0" rIns="0" bIns="0" rtlCol="0" anchor="ctr"/>
          <a:lstStyle/>
          <a:p>
            <a:pPr marL="0" indent="0">
              <a:buNone/>
            </a:pPr>
            <a:r>
              <a:rPr lang="en-US" sz="2200" b="1" dirty="0">
                <a:solidFill>
                  <a:srgbClr val="17324D"/>
                </a:solidFill>
                <a:latin typeface="Aptos Display" pitchFamily="34" charset="0"/>
                <a:ea typeface="Aptos Display" pitchFamily="34" charset="-122"/>
                <a:cs typeface="Aptos Display" pitchFamily="34" charset="-120"/>
              </a:rPr>
              <a:t>Usage rises sharply in warmer months</a:t>
            </a:r>
            <a:endParaRPr lang="en-US" sz="2200" dirty="0"/>
          </a:p>
        </p:txBody>
      </p:sp>
      <p:sp>
        <p:nvSpPr>
          <p:cNvPr id="4" name="Shape 2"/>
          <p:cNvSpPr/>
          <p:nvPr/>
        </p:nvSpPr>
        <p:spPr>
          <a:xfrm>
            <a:off x="502920" y="1115568"/>
            <a:ext cx="11173968" cy="0"/>
          </a:xfrm>
          <a:prstGeom prst="line">
            <a:avLst/>
          </a:prstGeom>
          <a:noFill/>
          <a:ln w="12700">
            <a:solidFill>
              <a:srgbClr val="E6E9ED"/>
            </a:solidFill>
            <a:prstDash val="solid"/>
          </a:ln>
        </p:spPr>
        <p:txBody>
          <a:bodyPr/>
          <a:lstStyle/>
          <a:p>
            <a:endParaRPr lang="en-US"/>
          </a:p>
        </p:txBody>
      </p:sp>
      <p:sp>
        <p:nvSpPr>
          <p:cNvPr id="5" name="Shape 3"/>
          <p:cNvSpPr/>
          <p:nvPr/>
        </p:nvSpPr>
        <p:spPr>
          <a:xfrm>
            <a:off x="658368" y="1325880"/>
            <a:ext cx="6913141" cy="5001768"/>
          </a:xfrm>
          <a:prstGeom prst="roundRect">
            <a:avLst>
              <a:gd name="adj" fmla="val 1649"/>
            </a:avLst>
          </a:prstGeom>
          <a:solidFill>
            <a:srgbClr val="FFFFFF"/>
          </a:solidFill>
          <a:ln w="12700">
            <a:solidFill>
              <a:srgbClr val="E6E9ED"/>
            </a:solidFill>
            <a:prstDash val="solid"/>
          </a:ln>
        </p:spPr>
        <p:txBody>
          <a:bodyPr/>
          <a:lstStyle/>
          <a:p>
            <a:endParaRPr lang="en-US"/>
          </a:p>
        </p:txBody>
      </p:sp>
      <p:pic>
        <p:nvPicPr>
          <p:cNvPr id="6" name="Image 0" descr="/mnt/data/Q3vis.png"/>
          <p:cNvPicPr>
            <a:picLocks noChangeAspect="1"/>
          </p:cNvPicPr>
          <p:nvPr/>
        </p:nvPicPr>
        <p:blipFill>
          <a:blip r:embed="rId3"/>
          <a:srcRect/>
          <a:stretch/>
        </p:blipFill>
        <p:spPr>
          <a:xfrm>
            <a:off x="731519" y="1399031"/>
            <a:ext cx="6743008" cy="4836761"/>
          </a:xfrm>
          <a:prstGeom prst="rect">
            <a:avLst/>
          </a:prstGeom>
        </p:spPr>
      </p:pic>
      <p:sp>
        <p:nvSpPr>
          <p:cNvPr id="7" name="Shape 4"/>
          <p:cNvSpPr/>
          <p:nvPr/>
        </p:nvSpPr>
        <p:spPr>
          <a:xfrm>
            <a:off x="8001000" y="1600187"/>
            <a:ext cx="3200400" cy="2249401"/>
          </a:xfrm>
          <a:prstGeom prst="roundRect">
            <a:avLst>
              <a:gd name="adj" fmla="val 4000"/>
            </a:avLst>
          </a:prstGeom>
          <a:solidFill>
            <a:srgbClr val="FFFFFF"/>
          </a:solidFill>
          <a:ln w="12700">
            <a:solidFill>
              <a:srgbClr val="E6E9ED"/>
            </a:solidFill>
            <a:prstDash val="solid"/>
          </a:ln>
        </p:spPr>
        <p:txBody>
          <a:bodyPr/>
          <a:lstStyle/>
          <a:p>
            <a:endParaRPr lang="en-US"/>
          </a:p>
        </p:txBody>
      </p:sp>
      <p:sp>
        <p:nvSpPr>
          <p:cNvPr id="8" name="Shape 5"/>
          <p:cNvSpPr/>
          <p:nvPr/>
        </p:nvSpPr>
        <p:spPr>
          <a:xfrm>
            <a:off x="7987544" y="1600188"/>
            <a:ext cx="73152" cy="2249400"/>
          </a:xfrm>
          <a:prstGeom prst="rect">
            <a:avLst/>
          </a:prstGeom>
          <a:solidFill>
            <a:srgbClr val="00BFC4"/>
          </a:solidFill>
          <a:ln w="12700">
            <a:solidFill>
              <a:srgbClr val="00BFC4"/>
            </a:solidFill>
            <a:prstDash val="solid"/>
          </a:ln>
        </p:spPr>
        <p:txBody>
          <a:bodyPr/>
          <a:lstStyle/>
          <a:p>
            <a:endParaRPr lang="en-US"/>
          </a:p>
        </p:txBody>
      </p:sp>
      <p:sp>
        <p:nvSpPr>
          <p:cNvPr id="9" name="Text 6"/>
          <p:cNvSpPr/>
          <p:nvPr/>
        </p:nvSpPr>
        <p:spPr>
          <a:xfrm>
            <a:off x="8229600" y="1688580"/>
            <a:ext cx="2848356" cy="219456"/>
          </a:xfrm>
          <a:prstGeom prst="rect">
            <a:avLst/>
          </a:prstGeom>
          <a:noFill/>
          <a:ln/>
        </p:spPr>
        <p:txBody>
          <a:bodyPr wrap="square" lIns="0" tIns="0" rIns="0" bIns="0" rtlCol="0" anchor="ctr"/>
          <a:lstStyle/>
          <a:p>
            <a:pPr marL="0" indent="0">
              <a:buNone/>
            </a:pPr>
            <a:r>
              <a:rPr lang="en-US" sz="1600" b="1" dirty="0">
                <a:solidFill>
                  <a:srgbClr val="17324D"/>
                </a:solidFill>
              </a:rPr>
              <a:t>What the chart says</a:t>
            </a:r>
            <a:endParaRPr lang="en-US" sz="1600" dirty="0"/>
          </a:p>
        </p:txBody>
      </p:sp>
      <p:sp>
        <p:nvSpPr>
          <p:cNvPr id="10" name="Text 7"/>
          <p:cNvSpPr/>
          <p:nvPr/>
        </p:nvSpPr>
        <p:spPr>
          <a:xfrm>
            <a:off x="8229600" y="1996429"/>
            <a:ext cx="2848356" cy="1746528"/>
          </a:xfrm>
          <a:prstGeom prst="rect">
            <a:avLst/>
          </a:prstGeom>
          <a:noFill/>
          <a:ln/>
        </p:spPr>
        <p:txBody>
          <a:bodyPr wrap="square" lIns="0" tIns="0" rIns="0" bIns="0" rtlCol="0" anchor="t">
            <a:noAutofit/>
          </a:bodyPr>
          <a:lstStyle/>
          <a:p>
            <a:pPr marL="0" indent="0" algn="just">
              <a:buNone/>
            </a:pPr>
            <a:r>
              <a:rPr lang="en-US" sz="1400" dirty="0">
                <a:solidFill>
                  <a:srgbClr val="1F2937"/>
                </a:solidFill>
              </a:rPr>
              <a:t>Both rider types peaked in August and dropped sharply in colder months. The seasonal pattern was expected for casual riders, but it also appears strongly among members, implying that even habitual riders remain sensitive to weather and seasonal conditions.</a:t>
            </a:r>
            <a:endParaRPr lang="en-US" sz="1400" dirty="0"/>
          </a:p>
        </p:txBody>
      </p:sp>
      <p:sp>
        <p:nvSpPr>
          <p:cNvPr id="11" name="Shape 8"/>
          <p:cNvSpPr/>
          <p:nvPr/>
        </p:nvSpPr>
        <p:spPr>
          <a:xfrm>
            <a:off x="8001000" y="4389108"/>
            <a:ext cx="3200400" cy="1600224"/>
          </a:xfrm>
          <a:prstGeom prst="roundRect">
            <a:avLst>
              <a:gd name="adj" fmla="val 6154"/>
            </a:avLst>
          </a:prstGeom>
          <a:solidFill>
            <a:srgbClr val="FFFFFF"/>
          </a:solidFill>
          <a:ln w="12700">
            <a:solidFill>
              <a:srgbClr val="E6E9ED"/>
            </a:solidFill>
            <a:prstDash val="solid"/>
          </a:ln>
        </p:spPr>
        <p:txBody>
          <a:bodyPr/>
          <a:lstStyle/>
          <a:p>
            <a:endParaRPr lang="en-US"/>
          </a:p>
        </p:txBody>
      </p:sp>
      <p:sp>
        <p:nvSpPr>
          <p:cNvPr id="12" name="Shape 9"/>
          <p:cNvSpPr/>
          <p:nvPr/>
        </p:nvSpPr>
        <p:spPr>
          <a:xfrm>
            <a:off x="8007864" y="4389107"/>
            <a:ext cx="73152" cy="1600223"/>
          </a:xfrm>
          <a:prstGeom prst="rect">
            <a:avLst/>
          </a:prstGeom>
          <a:solidFill>
            <a:srgbClr val="F8766D"/>
          </a:solidFill>
          <a:ln w="12700">
            <a:solidFill>
              <a:srgbClr val="F8766D"/>
            </a:solidFill>
            <a:prstDash val="solid"/>
          </a:ln>
        </p:spPr>
        <p:txBody>
          <a:bodyPr/>
          <a:lstStyle/>
          <a:p>
            <a:endParaRPr lang="en-US"/>
          </a:p>
        </p:txBody>
      </p:sp>
      <p:sp>
        <p:nvSpPr>
          <p:cNvPr id="13" name="Text 10"/>
          <p:cNvSpPr/>
          <p:nvPr/>
        </p:nvSpPr>
        <p:spPr>
          <a:xfrm>
            <a:off x="8229600" y="4508497"/>
            <a:ext cx="2848356" cy="219456"/>
          </a:xfrm>
          <a:prstGeom prst="rect">
            <a:avLst/>
          </a:prstGeom>
          <a:noFill/>
          <a:ln/>
        </p:spPr>
        <p:txBody>
          <a:bodyPr wrap="square" lIns="0" tIns="0" rIns="0" bIns="0" rtlCol="0" anchor="ctr"/>
          <a:lstStyle/>
          <a:p>
            <a:pPr marL="0" indent="0">
              <a:buNone/>
            </a:pPr>
            <a:r>
              <a:rPr lang="en-US" sz="1600" b="1" dirty="0">
                <a:solidFill>
                  <a:srgbClr val="17324D"/>
                </a:solidFill>
              </a:rPr>
              <a:t>Marketing implication</a:t>
            </a:r>
            <a:endParaRPr lang="en-US" sz="1600" dirty="0"/>
          </a:p>
        </p:txBody>
      </p:sp>
      <p:sp>
        <p:nvSpPr>
          <p:cNvPr id="14" name="Text 11"/>
          <p:cNvSpPr/>
          <p:nvPr/>
        </p:nvSpPr>
        <p:spPr>
          <a:xfrm>
            <a:off x="8229600" y="4816346"/>
            <a:ext cx="2848356" cy="1103376"/>
          </a:xfrm>
          <a:prstGeom prst="rect">
            <a:avLst/>
          </a:prstGeom>
          <a:noFill/>
          <a:ln/>
        </p:spPr>
        <p:txBody>
          <a:bodyPr wrap="square" lIns="0" tIns="0" rIns="0" bIns="0" rtlCol="0" anchor="t">
            <a:noAutofit/>
          </a:bodyPr>
          <a:lstStyle/>
          <a:p>
            <a:pPr marL="0" indent="0" algn="just">
              <a:buNone/>
            </a:pPr>
            <a:r>
              <a:rPr lang="en-US" sz="1400" dirty="0">
                <a:solidFill>
                  <a:srgbClr val="1F2937"/>
                </a:solidFill>
              </a:rPr>
              <a:t>Membership messaging should intensify before and during late spring, summer, and early autumn, when riders are already most engaged.</a:t>
            </a:r>
            <a:endParaRPr lang="en-US" sz="1400" dirty="0"/>
          </a:p>
        </p:txBody>
      </p:sp>
      <p:sp>
        <p:nvSpPr>
          <p:cNvPr id="15" name="Text 12"/>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16" name="Text 13"/>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05</a:t>
            </a:r>
            <a:endParaRPr lang="en-US" sz="7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4389120" cy="201168"/>
          </a:xfrm>
          <a:prstGeom prst="rect">
            <a:avLst/>
          </a:prstGeom>
          <a:noFill/>
          <a:ln/>
        </p:spPr>
        <p:txBody>
          <a:bodyPr wrap="square" rtlCol="0" anchor="ctr"/>
          <a:lstStyle/>
          <a:p>
            <a:pPr marL="0" indent="0">
              <a:buNone/>
            </a:pPr>
            <a:r>
              <a:rPr lang="en-US" sz="750" b="1" dirty="0">
                <a:solidFill>
                  <a:srgbClr val="00BFC4"/>
                </a:solidFill>
                <a:latin typeface="Aptos" pitchFamily="34" charset="0"/>
                <a:ea typeface="Aptos" pitchFamily="34" charset="-122"/>
                <a:cs typeface="Aptos" pitchFamily="34" charset="-120"/>
              </a:rPr>
              <a:t>CYCLISTIC BIKE-SHARE CASE STUDY</a:t>
            </a:r>
            <a:endParaRPr lang="en-US" sz="750" dirty="0"/>
          </a:p>
        </p:txBody>
      </p:sp>
      <p:sp>
        <p:nvSpPr>
          <p:cNvPr id="3" name="Text 1"/>
          <p:cNvSpPr/>
          <p:nvPr/>
        </p:nvSpPr>
        <p:spPr>
          <a:xfrm>
            <a:off x="502920" y="530352"/>
            <a:ext cx="10515600" cy="502920"/>
          </a:xfrm>
          <a:prstGeom prst="rect">
            <a:avLst/>
          </a:prstGeom>
          <a:noFill/>
          <a:ln/>
        </p:spPr>
        <p:txBody>
          <a:bodyPr wrap="square" lIns="0" tIns="0" rIns="0" bIns="0" rtlCol="0" anchor="ctr"/>
          <a:lstStyle/>
          <a:p>
            <a:pPr marL="0" indent="0">
              <a:buNone/>
            </a:pPr>
            <a:r>
              <a:rPr lang="en-US" sz="2200" b="1" dirty="0">
                <a:solidFill>
                  <a:srgbClr val="17324D"/>
                </a:solidFill>
                <a:latin typeface="Aptos Display" pitchFamily="34" charset="0"/>
                <a:ea typeface="Aptos Display" pitchFamily="34" charset="-122"/>
                <a:cs typeface="Aptos Display" pitchFamily="34" charset="-120"/>
              </a:rPr>
              <a:t>Weekday members vs weekend casual riders</a:t>
            </a:r>
            <a:endParaRPr lang="en-US" sz="2200" dirty="0"/>
          </a:p>
        </p:txBody>
      </p:sp>
      <p:sp>
        <p:nvSpPr>
          <p:cNvPr id="4" name="Shape 2"/>
          <p:cNvSpPr/>
          <p:nvPr/>
        </p:nvSpPr>
        <p:spPr>
          <a:xfrm>
            <a:off x="502920" y="1115568"/>
            <a:ext cx="11173968" cy="0"/>
          </a:xfrm>
          <a:prstGeom prst="line">
            <a:avLst/>
          </a:prstGeom>
          <a:noFill/>
          <a:ln w="12700">
            <a:solidFill>
              <a:srgbClr val="E6E9ED"/>
            </a:solidFill>
            <a:prstDash val="solid"/>
          </a:ln>
        </p:spPr>
        <p:txBody>
          <a:bodyPr/>
          <a:lstStyle/>
          <a:p>
            <a:endParaRPr lang="en-US"/>
          </a:p>
        </p:txBody>
      </p:sp>
      <p:sp>
        <p:nvSpPr>
          <p:cNvPr id="5" name="Shape 3"/>
          <p:cNvSpPr/>
          <p:nvPr/>
        </p:nvSpPr>
        <p:spPr>
          <a:xfrm>
            <a:off x="658368" y="1325879"/>
            <a:ext cx="6610337" cy="5001751"/>
          </a:xfrm>
          <a:prstGeom prst="roundRect">
            <a:avLst>
              <a:gd name="adj" fmla="val 1667"/>
            </a:avLst>
          </a:prstGeom>
          <a:solidFill>
            <a:srgbClr val="FFFFFF"/>
          </a:solidFill>
          <a:ln w="12700">
            <a:solidFill>
              <a:srgbClr val="E6E9ED"/>
            </a:solidFill>
            <a:prstDash val="solid"/>
          </a:ln>
        </p:spPr>
        <p:txBody>
          <a:bodyPr/>
          <a:lstStyle/>
          <a:p>
            <a:endParaRPr lang="en-US"/>
          </a:p>
        </p:txBody>
      </p:sp>
      <p:pic>
        <p:nvPicPr>
          <p:cNvPr id="6" name="Image 0" descr="/mnt/data/Q4vis.png"/>
          <p:cNvPicPr>
            <a:picLocks noChangeAspect="1"/>
          </p:cNvPicPr>
          <p:nvPr/>
        </p:nvPicPr>
        <p:blipFill>
          <a:blip r:embed="rId3"/>
          <a:srcRect/>
          <a:stretch/>
        </p:blipFill>
        <p:spPr>
          <a:xfrm>
            <a:off x="731519" y="1399032"/>
            <a:ext cx="6420949" cy="4835026"/>
          </a:xfrm>
          <a:prstGeom prst="rect">
            <a:avLst/>
          </a:prstGeom>
        </p:spPr>
      </p:pic>
      <p:sp>
        <p:nvSpPr>
          <p:cNvPr id="7" name="Shape 4"/>
          <p:cNvSpPr/>
          <p:nvPr/>
        </p:nvSpPr>
        <p:spPr>
          <a:xfrm>
            <a:off x="8001000" y="1481327"/>
            <a:ext cx="3200400" cy="1417319"/>
          </a:xfrm>
          <a:prstGeom prst="roundRect">
            <a:avLst>
              <a:gd name="adj" fmla="val 6957"/>
            </a:avLst>
          </a:prstGeom>
          <a:solidFill>
            <a:srgbClr val="FFFFFF"/>
          </a:solidFill>
          <a:ln w="12700">
            <a:solidFill>
              <a:srgbClr val="E6E9ED"/>
            </a:solidFill>
            <a:prstDash val="solid"/>
          </a:ln>
        </p:spPr>
        <p:txBody>
          <a:bodyPr/>
          <a:lstStyle/>
          <a:p>
            <a:endParaRPr lang="en-US"/>
          </a:p>
        </p:txBody>
      </p:sp>
      <p:sp>
        <p:nvSpPr>
          <p:cNvPr id="8" name="Shape 5"/>
          <p:cNvSpPr/>
          <p:nvPr/>
        </p:nvSpPr>
        <p:spPr>
          <a:xfrm>
            <a:off x="8001000" y="1481328"/>
            <a:ext cx="73152" cy="1417318"/>
          </a:xfrm>
          <a:prstGeom prst="rect">
            <a:avLst/>
          </a:prstGeom>
          <a:solidFill>
            <a:srgbClr val="00BFC4"/>
          </a:solidFill>
          <a:ln w="12700">
            <a:solidFill>
              <a:srgbClr val="00BFC4"/>
            </a:solidFill>
            <a:prstDash val="solid"/>
          </a:ln>
        </p:spPr>
        <p:txBody>
          <a:bodyPr/>
          <a:lstStyle/>
          <a:p>
            <a:endParaRPr lang="en-US"/>
          </a:p>
        </p:txBody>
      </p:sp>
      <p:sp>
        <p:nvSpPr>
          <p:cNvPr id="9" name="Text 6"/>
          <p:cNvSpPr/>
          <p:nvPr/>
        </p:nvSpPr>
        <p:spPr>
          <a:xfrm>
            <a:off x="8202168" y="1627632"/>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Member pattern</a:t>
            </a:r>
            <a:endParaRPr lang="en-US" sz="1600" dirty="0"/>
          </a:p>
        </p:txBody>
      </p:sp>
      <p:sp>
        <p:nvSpPr>
          <p:cNvPr id="10" name="Text 7"/>
          <p:cNvSpPr/>
          <p:nvPr/>
        </p:nvSpPr>
        <p:spPr>
          <a:xfrm>
            <a:off x="8202168" y="1920240"/>
            <a:ext cx="2880360" cy="900452"/>
          </a:xfrm>
          <a:prstGeom prst="rect">
            <a:avLst/>
          </a:prstGeom>
          <a:noFill/>
          <a:ln/>
        </p:spPr>
        <p:txBody>
          <a:bodyPr wrap="square" lIns="0" tIns="0" rIns="0" bIns="0" rtlCol="0" anchor="t">
            <a:noAutofit/>
          </a:bodyPr>
          <a:lstStyle/>
          <a:p>
            <a:pPr marL="0" indent="0" algn="just">
              <a:buNone/>
            </a:pPr>
            <a:r>
              <a:rPr lang="en-US" sz="1400" dirty="0">
                <a:solidFill>
                  <a:srgbClr val="1F2937"/>
                </a:solidFill>
              </a:rPr>
              <a:t>Member usage is strongest during the working week, with Thursday recording the highest total member ride volume.</a:t>
            </a:r>
            <a:endParaRPr lang="en-US" sz="1400" dirty="0"/>
          </a:p>
        </p:txBody>
      </p:sp>
      <p:sp>
        <p:nvSpPr>
          <p:cNvPr id="11" name="Shape 8"/>
          <p:cNvSpPr/>
          <p:nvPr/>
        </p:nvSpPr>
        <p:spPr>
          <a:xfrm>
            <a:off x="8001000" y="3081528"/>
            <a:ext cx="3200400" cy="1234442"/>
          </a:xfrm>
          <a:prstGeom prst="roundRect">
            <a:avLst>
              <a:gd name="adj" fmla="val 6957"/>
            </a:avLst>
          </a:prstGeom>
          <a:solidFill>
            <a:srgbClr val="FFFFFF"/>
          </a:solidFill>
          <a:ln w="12700">
            <a:solidFill>
              <a:srgbClr val="E6E9ED"/>
            </a:solidFill>
            <a:prstDash val="solid"/>
          </a:ln>
        </p:spPr>
        <p:txBody>
          <a:bodyPr/>
          <a:lstStyle/>
          <a:p>
            <a:endParaRPr lang="en-US"/>
          </a:p>
        </p:txBody>
      </p:sp>
      <p:sp>
        <p:nvSpPr>
          <p:cNvPr id="12" name="Shape 9"/>
          <p:cNvSpPr/>
          <p:nvPr/>
        </p:nvSpPr>
        <p:spPr>
          <a:xfrm>
            <a:off x="8001000" y="3081527"/>
            <a:ext cx="73152" cy="1234441"/>
          </a:xfrm>
          <a:prstGeom prst="rect">
            <a:avLst/>
          </a:prstGeom>
          <a:solidFill>
            <a:srgbClr val="F8766D"/>
          </a:solidFill>
          <a:ln w="12700">
            <a:solidFill>
              <a:srgbClr val="F8766D"/>
            </a:solidFill>
            <a:prstDash val="solid"/>
          </a:ln>
        </p:spPr>
        <p:txBody>
          <a:bodyPr/>
          <a:lstStyle/>
          <a:p>
            <a:endParaRPr lang="en-US"/>
          </a:p>
        </p:txBody>
      </p:sp>
      <p:sp>
        <p:nvSpPr>
          <p:cNvPr id="13" name="Text 10"/>
          <p:cNvSpPr/>
          <p:nvPr/>
        </p:nvSpPr>
        <p:spPr>
          <a:xfrm>
            <a:off x="8202168" y="3227832"/>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Casual pattern</a:t>
            </a:r>
            <a:endParaRPr lang="en-US" sz="1600" dirty="0"/>
          </a:p>
        </p:txBody>
      </p:sp>
      <p:sp>
        <p:nvSpPr>
          <p:cNvPr id="14" name="Text 11"/>
          <p:cNvSpPr/>
          <p:nvPr/>
        </p:nvSpPr>
        <p:spPr>
          <a:xfrm>
            <a:off x="8202168" y="3520440"/>
            <a:ext cx="2880360" cy="726096"/>
          </a:xfrm>
          <a:prstGeom prst="rect">
            <a:avLst/>
          </a:prstGeom>
          <a:noFill/>
          <a:ln/>
        </p:spPr>
        <p:txBody>
          <a:bodyPr wrap="square" lIns="0" tIns="0" rIns="0" bIns="0" rtlCol="0" anchor="t">
            <a:noAutofit/>
          </a:bodyPr>
          <a:lstStyle/>
          <a:p>
            <a:pPr marL="0" indent="0" algn="just">
              <a:buNone/>
            </a:pPr>
            <a:r>
              <a:rPr lang="en-US" sz="1400" dirty="0">
                <a:solidFill>
                  <a:srgbClr val="1F2937"/>
                </a:solidFill>
              </a:rPr>
              <a:t>Casual usage peaks on Saturday, and casual riders have longer weekend ride durations than members.</a:t>
            </a:r>
            <a:endParaRPr lang="en-US" sz="1400" dirty="0"/>
          </a:p>
        </p:txBody>
      </p:sp>
      <p:sp>
        <p:nvSpPr>
          <p:cNvPr id="15" name="Shape 12"/>
          <p:cNvSpPr/>
          <p:nvPr/>
        </p:nvSpPr>
        <p:spPr>
          <a:xfrm>
            <a:off x="8001000" y="4498849"/>
            <a:ext cx="3200400" cy="1421503"/>
          </a:xfrm>
          <a:prstGeom prst="roundRect">
            <a:avLst>
              <a:gd name="adj" fmla="val 6957"/>
            </a:avLst>
          </a:prstGeom>
          <a:solidFill>
            <a:srgbClr val="FFFFFF"/>
          </a:solidFill>
          <a:ln w="12700">
            <a:solidFill>
              <a:srgbClr val="E6E9ED"/>
            </a:solidFill>
            <a:prstDash val="solid"/>
          </a:ln>
        </p:spPr>
        <p:txBody>
          <a:bodyPr/>
          <a:lstStyle/>
          <a:p>
            <a:endParaRPr lang="en-US"/>
          </a:p>
        </p:txBody>
      </p:sp>
      <p:sp>
        <p:nvSpPr>
          <p:cNvPr id="16" name="Shape 13"/>
          <p:cNvSpPr/>
          <p:nvPr/>
        </p:nvSpPr>
        <p:spPr>
          <a:xfrm>
            <a:off x="8001000" y="4498850"/>
            <a:ext cx="82296" cy="1421502"/>
          </a:xfrm>
          <a:prstGeom prst="rect">
            <a:avLst/>
          </a:prstGeom>
          <a:solidFill>
            <a:srgbClr val="17324D"/>
          </a:solidFill>
          <a:ln w="12700">
            <a:solidFill>
              <a:srgbClr val="17324D"/>
            </a:solidFill>
            <a:prstDash val="solid"/>
          </a:ln>
        </p:spPr>
        <p:txBody>
          <a:bodyPr/>
          <a:lstStyle/>
          <a:p>
            <a:endParaRPr lang="en-US"/>
          </a:p>
        </p:txBody>
      </p:sp>
      <p:sp>
        <p:nvSpPr>
          <p:cNvPr id="17" name="Text 14"/>
          <p:cNvSpPr/>
          <p:nvPr/>
        </p:nvSpPr>
        <p:spPr>
          <a:xfrm>
            <a:off x="8202168" y="4645154"/>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Interpretation</a:t>
            </a:r>
            <a:endParaRPr lang="en-US" sz="1600" dirty="0"/>
          </a:p>
        </p:txBody>
      </p:sp>
      <p:sp>
        <p:nvSpPr>
          <p:cNvPr id="18" name="Text 15"/>
          <p:cNvSpPr/>
          <p:nvPr/>
        </p:nvSpPr>
        <p:spPr>
          <a:xfrm>
            <a:off x="8202168" y="4937762"/>
            <a:ext cx="2880360" cy="484632"/>
          </a:xfrm>
          <a:prstGeom prst="rect">
            <a:avLst/>
          </a:prstGeom>
          <a:noFill/>
          <a:ln/>
        </p:spPr>
        <p:txBody>
          <a:bodyPr wrap="square" lIns="0" tIns="0" rIns="0" bIns="0" rtlCol="0" anchor="t">
            <a:noAutofit/>
          </a:bodyPr>
          <a:lstStyle/>
          <a:p>
            <a:pPr marL="0" indent="0" algn="just">
              <a:buNone/>
            </a:pPr>
            <a:r>
              <a:rPr lang="en-US" sz="1400" dirty="0">
                <a:solidFill>
                  <a:srgbClr val="1F2937"/>
                </a:solidFill>
              </a:rPr>
              <a:t>The day-of-week pattern supports a split between routine-oriented member usage and leisure-oriented casual usage.</a:t>
            </a:r>
            <a:endParaRPr lang="en-US" sz="1400" dirty="0"/>
          </a:p>
        </p:txBody>
      </p:sp>
      <p:sp>
        <p:nvSpPr>
          <p:cNvPr id="19" name="Text 16"/>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20" name="Text 17"/>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06</a:t>
            </a:r>
            <a:endParaRPr lang="en-US" sz="7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4389120" cy="201168"/>
          </a:xfrm>
          <a:prstGeom prst="rect">
            <a:avLst/>
          </a:prstGeom>
          <a:noFill/>
          <a:ln/>
        </p:spPr>
        <p:txBody>
          <a:bodyPr wrap="square" rtlCol="0" anchor="ctr"/>
          <a:lstStyle/>
          <a:p>
            <a:pPr marL="0" indent="0">
              <a:buNone/>
            </a:pPr>
            <a:r>
              <a:rPr lang="en-US" sz="750" b="1" dirty="0">
                <a:solidFill>
                  <a:srgbClr val="00BFC4"/>
                </a:solidFill>
                <a:latin typeface="Aptos" pitchFamily="34" charset="0"/>
                <a:ea typeface="Aptos" pitchFamily="34" charset="-122"/>
                <a:cs typeface="Aptos" pitchFamily="34" charset="-120"/>
              </a:rPr>
              <a:t>CYCLISTIC BIKE-SHARE CASE STUDY</a:t>
            </a:r>
            <a:endParaRPr lang="en-US" sz="750" dirty="0"/>
          </a:p>
        </p:txBody>
      </p:sp>
      <p:sp>
        <p:nvSpPr>
          <p:cNvPr id="3" name="Text 1"/>
          <p:cNvSpPr/>
          <p:nvPr/>
        </p:nvSpPr>
        <p:spPr>
          <a:xfrm>
            <a:off x="502920" y="530352"/>
            <a:ext cx="10515600" cy="502920"/>
          </a:xfrm>
          <a:prstGeom prst="rect">
            <a:avLst/>
          </a:prstGeom>
          <a:noFill/>
          <a:ln/>
        </p:spPr>
        <p:txBody>
          <a:bodyPr wrap="square" lIns="0" tIns="0" rIns="0" bIns="0" rtlCol="0" anchor="ctr"/>
          <a:lstStyle/>
          <a:p>
            <a:pPr marL="0" indent="0">
              <a:buNone/>
            </a:pPr>
            <a:r>
              <a:rPr lang="en-US" sz="2200" b="1" dirty="0">
                <a:solidFill>
                  <a:srgbClr val="17324D"/>
                </a:solidFill>
                <a:latin typeface="Aptos Display" pitchFamily="34" charset="0"/>
                <a:ea typeface="Aptos Display" pitchFamily="34" charset="-122"/>
                <a:cs typeface="Aptos Display" pitchFamily="34" charset="-120"/>
              </a:rPr>
              <a:t>Member demand clusters around commute-adjacent hours</a:t>
            </a:r>
            <a:endParaRPr lang="en-US" sz="2200" dirty="0"/>
          </a:p>
        </p:txBody>
      </p:sp>
      <p:sp>
        <p:nvSpPr>
          <p:cNvPr id="4" name="Shape 2"/>
          <p:cNvSpPr/>
          <p:nvPr/>
        </p:nvSpPr>
        <p:spPr>
          <a:xfrm>
            <a:off x="502920" y="1115568"/>
            <a:ext cx="11173968" cy="0"/>
          </a:xfrm>
          <a:prstGeom prst="line">
            <a:avLst/>
          </a:prstGeom>
          <a:noFill/>
          <a:ln w="12700">
            <a:solidFill>
              <a:srgbClr val="E6E9ED"/>
            </a:solidFill>
            <a:prstDash val="solid"/>
          </a:ln>
        </p:spPr>
        <p:txBody>
          <a:bodyPr/>
          <a:lstStyle/>
          <a:p>
            <a:endParaRPr lang="en-US"/>
          </a:p>
        </p:txBody>
      </p:sp>
      <p:sp>
        <p:nvSpPr>
          <p:cNvPr id="5" name="Shape 3"/>
          <p:cNvSpPr/>
          <p:nvPr/>
        </p:nvSpPr>
        <p:spPr>
          <a:xfrm>
            <a:off x="658368" y="1325880"/>
            <a:ext cx="6610337" cy="5001750"/>
          </a:xfrm>
          <a:prstGeom prst="roundRect">
            <a:avLst>
              <a:gd name="adj" fmla="val 1649"/>
            </a:avLst>
          </a:prstGeom>
          <a:solidFill>
            <a:srgbClr val="FFFFFF"/>
          </a:solidFill>
          <a:ln w="12700">
            <a:solidFill>
              <a:srgbClr val="E6E9ED"/>
            </a:solidFill>
            <a:prstDash val="solid"/>
          </a:ln>
        </p:spPr>
        <p:txBody>
          <a:bodyPr/>
          <a:lstStyle/>
          <a:p>
            <a:endParaRPr lang="en-US"/>
          </a:p>
        </p:txBody>
      </p:sp>
      <p:pic>
        <p:nvPicPr>
          <p:cNvPr id="6" name="Image 0" descr="/mnt/data/Q5vis.png"/>
          <p:cNvPicPr>
            <a:picLocks noChangeAspect="1"/>
          </p:cNvPicPr>
          <p:nvPr/>
        </p:nvPicPr>
        <p:blipFill>
          <a:blip r:embed="rId3"/>
          <a:srcRect/>
          <a:stretch/>
        </p:blipFill>
        <p:spPr>
          <a:xfrm>
            <a:off x="731520" y="1399032"/>
            <a:ext cx="6428697" cy="4839036"/>
          </a:xfrm>
          <a:prstGeom prst="rect">
            <a:avLst/>
          </a:prstGeom>
        </p:spPr>
      </p:pic>
      <p:sp>
        <p:nvSpPr>
          <p:cNvPr id="19" name="Text 16"/>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20" name="Text 17"/>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07</a:t>
            </a:r>
            <a:endParaRPr lang="en-US" sz="750" dirty="0"/>
          </a:p>
        </p:txBody>
      </p:sp>
      <p:sp>
        <p:nvSpPr>
          <p:cNvPr id="22" name="Shape 4">
            <a:extLst>
              <a:ext uri="{FF2B5EF4-FFF2-40B4-BE49-F238E27FC236}">
                <a16:creationId xmlns:a16="http://schemas.microsoft.com/office/drawing/2014/main" id="{F6ED5F3D-079A-8BE7-A422-CD043EFB8A90}"/>
              </a:ext>
            </a:extLst>
          </p:cNvPr>
          <p:cNvSpPr/>
          <p:nvPr/>
        </p:nvSpPr>
        <p:spPr>
          <a:xfrm>
            <a:off x="8001000" y="1481328"/>
            <a:ext cx="3200400" cy="1005846"/>
          </a:xfrm>
          <a:prstGeom prst="roundRect">
            <a:avLst>
              <a:gd name="adj" fmla="val 6957"/>
            </a:avLst>
          </a:prstGeom>
          <a:solidFill>
            <a:srgbClr val="FFFFFF"/>
          </a:solidFill>
          <a:ln w="12700">
            <a:solidFill>
              <a:srgbClr val="E6E9ED"/>
            </a:solidFill>
            <a:prstDash val="solid"/>
          </a:ln>
        </p:spPr>
        <p:txBody>
          <a:bodyPr/>
          <a:lstStyle/>
          <a:p>
            <a:endParaRPr lang="en-US"/>
          </a:p>
        </p:txBody>
      </p:sp>
      <p:sp>
        <p:nvSpPr>
          <p:cNvPr id="23" name="Shape 5">
            <a:extLst>
              <a:ext uri="{FF2B5EF4-FFF2-40B4-BE49-F238E27FC236}">
                <a16:creationId xmlns:a16="http://schemas.microsoft.com/office/drawing/2014/main" id="{BA68973D-9AD7-DDFB-74E6-362A93C93E39}"/>
              </a:ext>
            </a:extLst>
          </p:cNvPr>
          <p:cNvSpPr/>
          <p:nvPr/>
        </p:nvSpPr>
        <p:spPr>
          <a:xfrm>
            <a:off x="8001000" y="1481328"/>
            <a:ext cx="73152" cy="1005836"/>
          </a:xfrm>
          <a:prstGeom prst="rect">
            <a:avLst/>
          </a:prstGeom>
          <a:solidFill>
            <a:srgbClr val="00BFC4"/>
          </a:solidFill>
          <a:ln w="12700">
            <a:solidFill>
              <a:srgbClr val="00BFC4"/>
            </a:solidFill>
            <a:prstDash val="solid"/>
          </a:ln>
        </p:spPr>
        <p:txBody>
          <a:bodyPr/>
          <a:lstStyle/>
          <a:p>
            <a:endParaRPr lang="en-US"/>
          </a:p>
        </p:txBody>
      </p:sp>
      <p:sp>
        <p:nvSpPr>
          <p:cNvPr id="24" name="Text 6">
            <a:extLst>
              <a:ext uri="{FF2B5EF4-FFF2-40B4-BE49-F238E27FC236}">
                <a16:creationId xmlns:a16="http://schemas.microsoft.com/office/drawing/2014/main" id="{BBBD0209-A3DB-8B7B-73C5-BEEF38D32610}"/>
              </a:ext>
            </a:extLst>
          </p:cNvPr>
          <p:cNvSpPr/>
          <p:nvPr/>
        </p:nvSpPr>
        <p:spPr>
          <a:xfrm>
            <a:off x="8202168" y="1627632"/>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Peak Hour</a:t>
            </a:r>
            <a:endParaRPr lang="en-US" sz="1600" dirty="0"/>
          </a:p>
        </p:txBody>
      </p:sp>
      <p:sp>
        <p:nvSpPr>
          <p:cNvPr id="25" name="Text 7">
            <a:extLst>
              <a:ext uri="{FF2B5EF4-FFF2-40B4-BE49-F238E27FC236}">
                <a16:creationId xmlns:a16="http://schemas.microsoft.com/office/drawing/2014/main" id="{1107CC28-7045-AF95-634A-E97D220E0C7E}"/>
              </a:ext>
            </a:extLst>
          </p:cNvPr>
          <p:cNvSpPr/>
          <p:nvPr/>
        </p:nvSpPr>
        <p:spPr>
          <a:xfrm>
            <a:off x="8202168" y="1920240"/>
            <a:ext cx="2880360" cy="465807"/>
          </a:xfrm>
          <a:prstGeom prst="rect">
            <a:avLst/>
          </a:prstGeom>
          <a:noFill/>
          <a:ln/>
        </p:spPr>
        <p:txBody>
          <a:bodyPr wrap="square" lIns="0" tIns="0" rIns="0" bIns="0" rtlCol="0" anchor="t">
            <a:noAutofit/>
          </a:bodyPr>
          <a:lstStyle/>
          <a:p>
            <a:r>
              <a:rPr lang="en-US" sz="1400" dirty="0">
                <a:solidFill>
                  <a:srgbClr val="1F2937"/>
                </a:solidFill>
              </a:rPr>
              <a:t>For both rider types, the highest ride volume occurred during 17:00–17:59.</a:t>
            </a:r>
            <a:endParaRPr lang="en-US" sz="1400" dirty="0"/>
          </a:p>
        </p:txBody>
      </p:sp>
      <p:sp>
        <p:nvSpPr>
          <p:cNvPr id="26" name="Shape 8">
            <a:extLst>
              <a:ext uri="{FF2B5EF4-FFF2-40B4-BE49-F238E27FC236}">
                <a16:creationId xmlns:a16="http://schemas.microsoft.com/office/drawing/2014/main" id="{EB589B45-DD48-8FA7-6575-4C88B29714BC}"/>
              </a:ext>
            </a:extLst>
          </p:cNvPr>
          <p:cNvSpPr/>
          <p:nvPr/>
        </p:nvSpPr>
        <p:spPr>
          <a:xfrm>
            <a:off x="8001000" y="2627039"/>
            <a:ext cx="3200400" cy="1643197"/>
          </a:xfrm>
          <a:prstGeom prst="roundRect">
            <a:avLst>
              <a:gd name="adj" fmla="val 6957"/>
            </a:avLst>
          </a:prstGeom>
          <a:solidFill>
            <a:srgbClr val="FFFFFF"/>
          </a:solidFill>
          <a:ln w="12700">
            <a:solidFill>
              <a:srgbClr val="E6E9ED"/>
            </a:solidFill>
            <a:prstDash val="solid"/>
          </a:ln>
        </p:spPr>
        <p:txBody>
          <a:bodyPr/>
          <a:lstStyle/>
          <a:p>
            <a:endParaRPr lang="en-US"/>
          </a:p>
        </p:txBody>
      </p:sp>
      <p:sp>
        <p:nvSpPr>
          <p:cNvPr id="27" name="Shape 9">
            <a:extLst>
              <a:ext uri="{FF2B5EF4-FFF2-40B4-BE49-F238E27FC236}">
                <a16:creationId xmlns:a16="http://schemas.microsoft.com/office/drawing/2014/main" id="{CCCDA119-AE01-D1DF-196A-03D2F1B0CE38}"/>
              </a:ext>
            </a:extLst>
          </p:cNvPr>
          <p:cNvSpPr/>
          <p:nvPr/>
        </p:nvSpPr>
        <p:spPr>
          <a:xfrm>
            <a:off x="8001000" y="2627039"/>
            <a:ext cx="73152" cy="1643197"/>
          </a:xfrm>
          <a:prstGeom prst="rect">
            <a:avLst/>
          </a:prstGeom>
          <a:solidFill>
            <a:srgbClr val="F8766D"/>
          </a:solidFill>
          <a:ln w="12700">
            <a:solidFill>
              <a:srgbClr val="F8766D"/>
            </a:solidFill>
            <a:prstDash val="solid"/>
          </a:ln>
        </p:spPr>
        <p:txBody>
          <a:bodyPr/>
          <a:lstStyle/>
          <a:p>
            <a:endParaRPr lang="en-US"/>
          </a:p>
        </p:txBody>
      </p:sp>
      <p:sp>
        <p:nvSpPr>
          <p:cNvPr id="28" name="Text 10">
            <a:extLst>
              <a:ext uri="{FF2B5EF4-FFF2-40B4-BE49-F238E27FC236}">
                <a16:creationId xmlns:a16="http://schemas.microsoft.com/office/drawing/2014/main" id="{A5A7C9B3-26BF-C583-D3FC-7FF8B15F683E}"/>
              </a:ext>
            </a:extLst>
          </p:cNvPr>
          <p:cNvSpPr/>
          <p:nvPr/>
        </p:nvSpPr>
        <p:spPr>
          <a:xfrm>
            <a:off x="8202168" y="2773344"/>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Evidence Strength</a:t>
            </a:r>
            <a:endParaRPr lang="en-US" sz="1600" dirty="0"/>
          </a:p>
        </p:txBody>
      </p:sp>
      <p:sp>
        <p:nvSpPr>
          <p:cNvPr id="29" name="Text 11">
            <a:extLst>
              <a:ext uri="{FF2B5EF4-FFF2-40B4-BE49-F238E27FC236}">
                <a16:creationId xmlns:a16="http://schemas.microsoft.com/office/drawing/2014/main" id="{D0DFC5E4-839E-9639-631D-6E35BC0BFD80}"/>
              </a:ext>
            </a:extLst>
          </p:cNvPr>
          <p:cNvSpPr/>
          <p:nvPr/>
        </p:nvSpPr>
        <p:spPr>
          <a:xfrm>
            <a:off x="8202168" y="3065951"/>
            <a:ext cx="2880360" cy="1079845"/>
          </a:xfrm>
          <a:prstGeom prst="rect">
            <a:avLst/>
          </a:prstGeom>
          <a:noFill/>
          <a:ln/>
        </p:spPr>
        <p:txBody>
          <a:bodyPr wrap="square" lIns="0" tIns="0" rIns="0" bIns="0" rtlCol="0" anchor="t">
            <a:noAutofit/>
          </a:bodyPr>
          <a:lstStyle/>
          <a:p>
            <a:r>
              <a:rPr lang="en-US" sz="1400" dirty="0">
                <a:solidFill>
                  <a:srgbClr val="1F2937"/>
                </a:solidFill>
              </a:rPr>
              <a:t>The highest-volume member hours are tightly clustered around morning and late-afternoon travel windows, reinforcing the interpretation of practical or commute-adjacent use.</a:t>
            </a:r>
            <a:endParaRPr lang="en-US" sz="1400" dirty="0"/>
          </a:p>
        </p:txBody>
      </p:sp>
      <p:sp>
        <p:nvSpPr>
          <p:cNvPr id="30" name="Shape 12">
            <a:extLst>
              <a:ext uri="{FF2B5EF4-FFF2-40B4-BE49-F238E27FC236}">
                <a16:creationId xmlns:a16="http://schemas.microsoft.com/office/drawing/2014/main" id="{F86EB1CF-8B89-7061-E72E-A5821A898333}"/>
              </a:ext>
            </a:extLst>
          </p:cNvPr>
          <p:cNvSpPr/>
          <p:nvPr/>
        </p:nvSpPr>
        <p:spPr>
          <a:xfrm>
            <a:off x="8001000" y="4416541"/>
            <a:ext cx="3200400" cy="1421503"/>
          </a:xfrm>
          <a:prstGeom prst="roundRect">
            <a:avLst>
              <a:gd name="adj" fmla="val 6957"/>
            </a:avLst>
          </a:prstGeom>
          <a:solidFill>
            <a:srgbClr val="FFFFFF"/>
          </a:solidFill>
          <a:ln w="12700">
            <a:solidFill>
              <a:srgbClr val="E6E9ED"/>
            </a:solidFill>
            <a:prstDash val="solid"/>
          </a:ln>
        </p:spPr>
        <p:txBody>
          <a:bodyPr/>
          <a:lstStyle/>
          <a:p>
            <a:endParaRPr lang="en-US"/>
          </a:p>
        </p:txBody>
      </p:sp>
      <p:sp>
        <p:nvSpPr>
          <p:cNvPr id="31" name="Shape 13">
            <a:extLst>
              <a:ext uri="{FF2B5EF4-FFF2-40B4-BE49-F238E27FC236}">
                <a16:creationId xmlns:a16="http://schemas.microsoft.com/office/drawing/2014/main" id="{CC894EFC-85F2-9E91-4A86-9386D9A2FC7F}"/>
              </a:ext>
            </a:extLst>
          </p:cNvPr>
          <p:cNvSpPr/>
          <p:nvPr/>
        </p:nvSpPr>
        <p:spPr>
          <a:xfrm>
            <a:off x="8001000" y="4416542"/>
            <a:ext cx="82296" cy="1421502"/>
          </a:xfrm>
          <a:prstGeom prst="rect">
            <a:avLst/>
          </a:prstGeom>
          <a:solidFill>
            <a:srgbClr val="17324D"/>
          </a:solidFill>
          <a:ln w="12700">
            <a:solidFill>
              <a:srgbClr val="17324D"/>
            </a:solidFill>
            <a:prstDash val="solid"/>
          </a:ln>
        </p:spPr>
        <p:txBody>
          <a:bodyPr/>
          <a:lstStyle/>
          <a:p>
            <a:endParaRPr lang="en-US"/>
          </a:p>
        </p:txBody>
      </p:sp>
      <p:sp>
        <p:nvSpPr>
          <p:cNvPr id="32" name="Text 14">
            <a:extLst>
              <a:ext uri="{FF2B5EF4-FFF2-40B4-BE49-F238E27FC236}">
                <a16:creationId xmlns:a16="http://schemas.microsoft.com/office/drawing/2014/main" id="{033E9AF2-17F9-A43B-8B3B-9C59C30C717A}"/>
              </a:ext>
            </a:extLst>
          </p:cNvPr>
          <p:cNvSpPr/>
          <p:nvPr/>
        </p:nvSpPr>
        <p:spPr>
          <a:xfrm>
            <a:off x="8202168" y="4562846"/>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Contrast</a:t>
            </a:r>
            <a:endParaRPr lang="en-US" sz="1600" dirty="0"/>
          </a:p>
        </p:txBody>
      </p:sp>
      <p:sp>
        <p:nvSpPr>
          <p:cNvPr id="33" name="Text 15">
            <a:extLst>
              <a:ext uri="{FF2B5EF4-FFF2-40B4-BE49-F238E27FC236}">
                <a16:creationId xmlns:a16="http://schemas.microsoft.com/office/drawing/2014/main" id="{E63F866E-7A9B-21B1-7128-43F9419AA8E4}"/>
              </a:ext>
            </a:extLst>
          </p:cNvPr>
          <p:cNvSpPr/>
          <p:nvPr/>
        </p:nvSpPr>
        <p:spPr>
          <a:xfrm>
            <a:off x="8202168" y="4855454"/>
            <a:ext cx="2880360" cy="741598"/>
          </a:xfrm>
          <a:prstGeom prst="rect">
            <a:avLst/>
          </a:prstGeom>
          <a:noFill/>
          <a:ln/>
        </p:spPr>
        <p:txBody>
          <a:bodyPr wrap="square" lIns="0" tIns="0" rIns="0" bIns="0" rtlCol="0" anchor="t">
            <a:noAutofit/>
          </a:bodyPr>
          <a:lstStyle/>
          <a:p>
            <a:r>
              <a:rPr lang="en-US" sz="1400" dirty="0">
                <a:solidFill>
                  <a:srgbClr val="1F2937"/>
                </a:solidFill>
              </a:rPr>
              <a:t>Casual ridership rises more gradually and is less tightly clustered around commute windows.</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4389120" cy="201168"/>
          </a:xfrm>
          <a:prstGeom prst="rect">
            <a:avLst/>
          </a:prstGeom>
          <a:noFill/>
          <a:ln/>
        </p:spPr>
        <p:txBody>
          <a:bodyPr wrap="square" rtlCol="0" anchor="ctr"/>
          <a:lstStyle/>
          <a:p>
            <a:pPr marL="0" indent="0">
              <a:buNone/>
            </a:pPr>
            <a:r>
              <a:rPr lang="en-US" sz="750" b="1" dirty="0">
                <a:solidFill>
                  <a:srgbClr val="00BFC4"/>
                </a:solidFill>
                <a:latin typeface="Aptos" pitchFamily="34" charset="0"/>
                <a:ea typeface="Aptos" pitchFamily="34" charset="-122"/>
                <a:cs typeface="Aptos" pitchFamily="34" charset="-120"/>
              </a:rPr>
              <a:t>CYCLISTIC BIKE-SHARE CASE STUDY</a:t>
            </a:r>
            <a:endParaRPr lang="en-US" sz="750" dirty="0"/>
          </a:p>
        </p:txBody>
      </p:sp>
      <p:sp>
        <p:nvSpPr>
          <p:cNvPr id="3" name="Text 1"/>
          <p:cNvSpPr/>
          <p:nvPr/>
        </p:nvSpPr>
        <p:spPr>
          <a:xfrm>
            <a:off x="502920" y="530352"/>
            <a:ext cx="10515600" cy="502920"/>
          </a:xfrm>
          <a:prstGeom prst="rect">
            <a:avLst/>
          </a:prstGeom>
          <a:noFill/>
          <a:ln/>
        </p:spPr>
        <p:txBody>
          <a:bodyPr wrap="square" lIns="0" tIns="0" rIns="0" bIns="0" rtlCol="0" anchor="ctr"/>
          <a:lstStyle/>
          <a:p>
            <a:pPr marL="0" indent="0">
              <a:buNone/>
            </a:pPr>
            <a:r>
              <a:rPr lang="en-US" sz="2200" b="1" dirty="0">
                <a:solidFill>
                  <a:srgbClr val="17324D"/>
                </a:solidFill>
                <a:latin typeface="Aptos Display" pitchFamily="34" charset="0"/>
                <a:ea typeface="Aptos Display" pitchFamily="34" charset="-122"/>
                <a:cs typeface="Aptos Display" pitchFamily="34" charset="-120"/>
              </a:rPr>
              <a:t>E-bikes dominate across both rider types</a:t>
            </a:r>
            <a:endParaRPr lang="en-US" sz="2200" dirty="0"/>
          </a:p>
        </p:txBody>
      </p:sp>
      <p:sp>
        <p:nvSpPr>
          <p:cNvPr id="4" name="Shape 2"/>
          <p:cNvSpPr/>
          <p:nvPr/>
        </p:nvSpPr>
        <p:spPr>
          <a:xfrm>
            <a:off x="502920" y="1115568"/>
            <a:ext cx="11173968" cy="0"/>
          </a:xfrm>
          <a:prstGeom prst="line">
            <a:avLst/>
          </a:prstGeom>
          <a:noFill/>
          <a:ln w="12700">
            <a:solidFill>
              <a:srgbClr val="E6E9ED"/>
            </a:solidFill>
            <a:prstDash val="solid"/>
          </a:ln>
        </p:spPr>
        <p:txBody>
          <a:bodyPr/>
          <a:lstStyle/>
          <a:p>
            <a:endParaRPr lang="en-US"/>
          </a:p>
        </p:txBody>
      </p:sp>
      <p:sp>
        <p:nvSpPr>
          <p:cNvPr id="5" name="Shape 3"/>
          <p:cNvSpPr/>
          <p:nvPr/>
        </p:nvSpPr>
        <p:spPr>
          <a:xfrm>
            <a:off x="658368" y="1325880"/>
            <a:ext cx="6610337" cy="5001750"/>
          </a:xfrm>
          <a:prstGeom prst="roundRect">
            <a:avLst>
              <a:gd name="adj" fmla="val 1667"/>
            </a:avLst>
          </a:prstGeom>
          <a:solidFill>
            <a:srgbClr val="FFFFFF"/>
          </a:solidFill>
          <a:ln w="12700">
            <a:solidFill>
              <a:srgbClr val="E6E9ED"/>
            </a:solidFill>
            <a:prstDash val="solid"/>
          </a:ln>
        </p:spPr>
        <p:txBody>
          <a:bodyPr/>
          <a:lstStyle/>
          <a:p>
            <a:endParaRPr lang="en-US"/>
          </a:p>
        </p:txBody>
      </p:sp>
      <p:pic>
        <p:nvPicPr>
          <p:cNvPr id="6" name="Image 0" descr="/mnt/data/Q6vis.png"/>
          <p:cNvPicPr>
            <a:picLocks noChangeAspect="1"/>
          </p:cNvPicPr>
          <p:nvPr/>
        </p:nvPicPr>
        <p:blipFill>
          <a:blip r:embed="rId3"/>
          <a:srcRect/>
          <a:stretch/>
        </p:blipFill>
        <p:spPr>
          <a:xfrm>
            <a:off x="731520" y="1399031"/>
            <a:ext cx="6459694" cy="4846785"/>
          </a:xfrm>
          <a:prstGeom prst="rect">
            <a:avLst/>
          </a:prstGeom>
        </p:spPr>
      </p:pic>
      <p:sp>
        <p:nvSpPr>
          <p:cNvPr id="21" name="Text 18"/>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22" name="Text 19"/>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08</a:t>
            </a:r>
            <a:endParaRPr lang="en-US" sz="750" dirty="0"/>
          </a:p>
        </p:txBody>
      </p:sp>
      <p:sp>
        <p:nvSpPr>
          <p:cNvPr id="30" name="Text 10">
            <a:extLst>
              <a:ext uri="{FF2B5EF4-FFF2-40B4-BE49-F238E27FC236}">
                <a16:creationId xmlns:a16="http://schemas.microsoft.com/office/drawing/2014/main" id="{85B1D9DC-CF28-426A-6237-A4BA0D2057E2}"/>
              </a:ext>
            </a:extLst>
          </p:cNvPr>
          <p:cNvSpPr/>
          <p:nvPr/>
        </p:nvSpPr>
        <p:spPr>
          <a:xfrm>
            <a:off x="8202168" y="3072433"/>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Casual Rides</a:t>
            </a:r>
            <a:endParaRPr lang="en-US" sz="1600" dirty="0"/>
          </a:p>
        </p:txBody>
      </p:sp>
      <p:sp>
        <p:nvSpPr>
          <p:cNvPr id="31" name="Text 11">
            <a:extLst>
              <a:ext uri="{FF2B5EF4-FFF2-40B4-BE49-F238E27FC236}">
                <a16:creationId xmlns:a16="http://schemas.microsoft.com/office/drawing/2014/main" id="{56F1215C-363B-366C-BC31-991BDB5EC0EA}"/>
              </a:ext>
            </a:extLst>
          </p:cNvPr>
          <p:cNvSpPr/>
          <p:nvPr/>
        </p:nvSpPr>
        <p:spPr>
          <a:xfrm>
            <a:off x="8202167" y="3365040"/>
            <a:ext cx="1050321" cy="560652"/>
          </a:xfrm>
          <a:prstGeom prst="rect">
            <a:avLst/>
          </a:prstGeom>
          <a:noFill/>
          <a:ln/>
        </p:spPr>
        <p:txBody>
          <a:bodyPr wrap="square" lIns="0" tIns="0" rIns="0" bIns="0" rtlCol="0" anchor="t">
            <a:noAutofit/>
          </a:bodyPr>
          <a:lstStyle/>
          <a:p>
            <a:r>
              <a:rPr lang="en-US" sz="4000" b="1" dirty="0">
                <a:solidFill>
                  <a:srgbClr val="1F2937"/>
                </a:solidFill>
              </a:rPr>
              <a:t>66%</a:t>
            </a:r>
            <a:endParaRPr lang="en-US" sz="4000" b="1" dirty="0"/>
          </a:p>
        </p:txBody>
      </p:sp>
      <p:sp>
        <p:nvSpPr>
          <p:cNvPr id="32" name="Shape 12">
            <a:extLst>
              <a:ext uri="{FF2B5EF4-FFF2-40B4-BE49-F238E27FC236}">
                <a16:creationId xmlns:a16="http://schemas.microsoft.com/office/drawing/2014/main" id="{19A6352B-2EEB-B663-FEF0-6F49EB296A50}"/>
              </a:ext>
            </a:extLst>
          </p:cNvPr>
          <p:cNvSpPr/>
          <p:nvPr/>
        </p:nvSpPr>
        <p:spPr>
          <a:xfrm>
            <a:off x="8001000" y="4702629"/>
            <a:ext cx="3200400" cy="1625001"/>
          </a:xfrm>
          <a:prstGeom prst="roundRect">
            <a:avLst>
              <a:gd name="adj" fmla="val 6957"/>
            </a:avLst>
          </a:prstGeom>
          <a:solidFill>
            <a:srgbClr val="FFFFFF"/>
          </a:solidFill>
          <a:ln w="12700">
            <a:solidFill>
              <a:srgbClr val="E6E9ED"/>
            </a:solidFill>
            <a:prstDash val="solid"/>
          </a:ln>
        </p:spPr>
        <p:txBody>
          <a:bodyPr/>
          <a:lstStyle/>
          <a:p>
            <a:endParaRPr lang="en-US"/>
          </a:p>
        </p:txBody>
      </p:sp>
      <p:sp>
        <p:nvSpPr>
          <p:cNvPr id="33" name="Shape 13">
            <a:extLst>
              <a:ext uri="{FF2B5EF4-FFF2-40B4-BE49-F238E27FC236}">
                <a16:creationId xmlns:a16="http://schemas.microsoft.com/office/drawing/2014/main" id="{A63C84C9-6DC9-4750-31BB-096E1962FC5A}"/>
              </a:ext>
            </a:extLst>
          </p:cNvPr>
          <p:cNvSpPr/>
          <p:nvPr/>
        </p:nvSpPr>
        <p:spPr>
          <a:xfrm>
            <a:off x="8001000" y="4702630"/>
            <a:ext cx="82296" cy="1625000"/>
          </a:xfrm>
          <a:prstGeom prst="rect">
            <a:avLst/>
          </a:prstGeom>
          <a:solidFill>
            <a:srgbClr val="17324D"/>
          </a:solidFill>
          <a:ln w="12700">
            <a:solidFill>
              <a:srgbClr val="17324D"/>
            </a:solidFill>
            <a:prstDash val="solid"/>
          </a:ln>
        </p:spPr>
        <p:txBody>
          <a:bodyPr/>
          <a:lstStyle/>
          <a:p>
            <a:endParaRPr lang="en-US"/>
          </a:p>
        </p:txBody>
      </p:sp>
      <p:sp>
        <p:nvSpPr>
          <p:cNvPr id="34" name="Text 14">
            <a:extLst>
              <a:ext uri="{FF2B5EF4-FFF2-40B4-BE49-F238E27FC236}">
                <a16:creationId xmlns:a16="http://schemas.microsoft.com/office/drawing/2014/main" id="{403E572F-31C4-6532-4913-697AAC55D526}"/>
              </a:ext>
            </a:extLst>
          </p:cNvPr>
          <p:cNvSpPr/>
          <p:nvPr/>
        </p:nvSpPr>
        <p:spPr>
          <a:xfrm>
            <a:off x="8202168" y="4848934"/>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Implication</a:t>
            </a:r>
            <a:endParaRPr lang="en-US" sz="1600" dirty="0"/>
          </a:p>
        </p:txBody>
      </p:sp>
      <p:sp>
        <p:nvSpPr>
          <p:cNvPr id="35" name="Text 15">
            <a:extLst>
              <a:ext uri="{FF2B5EF4-FFF2-40B4-BE49-F238E27FC236}">
                <a16:creationId xmlns:a16="http://schemas.microsoft.com/office/drawing/2014/main" id="{45B6C50B-4527-8255-5ACC-206F1D420879}"/>
              </a:ext>
            </a:extLst>
          </p:cNvPr>
          <p:cNvSpPr/>
          <p:nvPr/>
        </p:nvSpPr>
        <p:spPr>
          <a:xfrm>
            <a:off x="8202168" y="5141542"/>
            <a:ext cx="2880360" cy="741598"/>
          </a:xfrm>
          <a:prstGeom prst="rect">
            <a:avLst/>
          </a:prstGeom>
          <a:noFill/>
          <a:ln/>
        </p:spPr>
        <p:txBody>
          <a:bodyPr wrap="square" lIns="0" tIns="0" rIns="0" bIns="0" rtlCol="0" anchor="t">
            <a:noAutofit/>
          </a:bodyPr>
          <a:lstStyle/>
          <a:p>
            <a:r>
              <a:rPr lang="en-US" sz="1400" dirty="0">
                <a:solidFill>
                  <a:srgbClr val="1F2937"/>
                </a:solidFill>
              </a:rPr>
              <a:t>E-bike preference is not unique to one segment. It is a broad product strength that can support both commuter convenience and leisure positioning.</a:t>
            </a:r>
            <a:endParaRPr lang="en-US" sz="1400" dirty="0"/>
          </a:p>
        </p:txBody>
      </p:sp>
      <p:sp>
        <p:nvSpPr>
          <p:cNvPr id="38" name="Text 15">
            <a:extLst>
              <a:ext uri="{FF2B5EF4-FFF2-40B4-BE49-F238E27FC236}">
                <a16:creationId xmlns:a16="http://schemas.microsoft.com/office/drawing/2014/main" id="{E74473EF-CF56-FFB9-06B6-018052DA22BA}"/>
              </a:ext>
            </a:extLst>
          </p:cNvPr>
          <p:cNvSpPr/>
          <p:nvPr/>
        </p:nvSpPr>
        <p:spPr>
          <a:xfrm>
            <a:off x="8202168" y="3933363"/>
            <a:ext cx="2880360" cy="541276"/>
          </a:xfrm>
          <a:prstGeom prst="rect">
            <a:avLst/>
          </a:prstGeom>
          <a:noFill/>
          <a:ln/>
        </p:spPr>
        <p:txBody>
          <a:bodyPr wrap="square" lIns="0" tIns="0" rIns="0" bIns="0" rtlCol="0" anchor="t">
            <a:noAutofit/>
          </a:bodyPr>
          <a:lstStyle/>
          <a:p>
            <a:r>
              <a:rPr lang="en-US" sz="1400" dirty="0">
                <a:solidFill>
                  <a:srgbClr val="5F6B7A"/>
                </a:solidFill>
              </a:rPr>
              <a:t>Approximate share of casual rides taken using e-bikes.</a:t>
            </a:r>
            <a:endParaRPr lang="en-US" sz="1400" dirty="0"/>
          </a:p>
        </p:txBody>
      </p:sp>
      <p:sp>
        <p:nvSpPr>
          <p:cNvPr id="39" name="Shape 8">
            <a:extLst>
              <a:ext uri="{FF2B5EF4-FFF2-40B4-BE49-F238E27FC236}">
                <a16:creationId xmlns:a16="http://schemas.microsoft.com/office/drawing/2014/main" id="{13BB4007-7FBD-B420-AD2D-E485A55BBBC8}"/>
              </a:ext>
            </a:extLst>
          </p:cNvPr>
          <p:cNvSpPr/>
          <p:nvPr/>
        </p:nvSpPr>
        <p:spPr>
          <a:xfrm>
            <a:off x="8001000" y="3020196"/>
            <a:ext cx="3200400" cy="1542610"/>
          </a:xfrm>
          <a:prstGeom prst="roundRect">
            <a:avLst>
              <a:gd name="adj" fmla="val 6957"/>
            </a:avLst>
          </a:prstGeom>
          <a:solidFill>
            <a:srgbClr val="FFFFFF"/>
          </a:solidFill>
          <a:ln w="12700">
            <a:solidFill>
              <a:srgbClr val="E6E9ED"/>
            </a:solidFill>
            <a:prstDash val="solid"/>
          </a:ln>
        </p:spPr>
        <p:txBody>
          <a:bodyPr/>
          <a:lstStyle/>
          <a:p>
            <a:endParaRPr lang="en-US"/>
          </a:p>
        </p:txBody>
      </p:sp>
      <p:sp>
        <p:nvSpPr>
          <p:cNvPr id="40" name="Shape 9">
            <a:extLst>
              <a:ext uri="{FF2B5EF4-FFF2-40B4-BE49-F238E27FC236}">
                <a16:creationId xmlns:a16="http://schemas.microsoft.com/office/drawing/2014/main" id="{644EFF0E-BDAC-95DD-8877-58FB494B2516}"/>
              </a:ext>
            </a:extLst>
          </p:cNvPr>
          <p:cNvSpPr/>
          <p:nvPr/>
        </p:nvSpPr>
        <p:spPr>
          <a:xfrm>
            <a:off x="8001000" y="3020196"/>
            <a:ext cx="82294" cy="1542610"/>
          </a:xfrm>
          <a:prstGeom prst="rect">
            <a:avLst/>
          </a:prstGeom>
          <a:solidFill>
            <a:srgbClr val="F8766D"/>
          </a:solidFill>
          <a:ln w="12700">
            <a:solidFill>
              <a:srgbClr val="F8766D"/>
            </a:solidFill>
            <a:prstDash val="solid"/>
          </a:ln>
        </p:spPr>
        <p:txBody>
          <a:bodyPr/>
          <a:lstStyle/>
          <a:p>
            <a:endParaRPr lang="en-US"/>
          </a:p>
        </p:txBody>
      </p:sp>
      <p:sp>
        <p:nvSpPr>
          <p:cNvPr id="41" name="Text 10">
            <a:extLst>
              <a:ext uri="{FF2B5EF4-FFF2-40B4-BE49-F238E27FC236}">
                <a16:creationId xmlns:a16="http://schemas.microsoft.com/office/drawing/2014/main" id="{2A03A2D6-54F0-AEFE-6A26-FFD7F0DAE58A}"/>
              </a:ext>
            </a:extLst>
          </p:cNvPr>
          <p:cNvSpPr/>
          <p:nvPr/>
        </p:nvSpPr>
        <p:spPr>
          <a:xfrm>
            <a:off x="8202168" y="3065914"/>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Casual Rides</a:t>
            </a:r>
            <a:endParaRPr lang="en-US" sz="1600" dirty="0"/>
          </a:p>
        </p:txBody>
      </p:sp>
      <p:sp>
        <p:nvSpPr>
          <p:cNvPr id="42" name="Text 11">
            <a:extLst>
              <a:ext uri="{FF2B5EF4-FFF2-40B4-BE49-F238E27FC236}">
                <a16:creationId xmlns:a16="http://schemas.microsoft.com/office/drawing/2014/main" id="{69C6649B-7555-503F-D348-7D56C2FE0232}"/>
              </a:ext>
            </a:extLst>
          </p:cNvPr>
          <p:cNvSpPr/>
          <p:nvPr/>
        </p:nvSpPr>
        <p:spPr>
          <a:xfrm>
            <a:off x="8202167" y="3358521"/>
            <a:ext cx="1050321" cy="560652"/>
          </a:xfrm>
          <a:prstGeom prst="rect">
            <a:avLst/>
          </a:prstGeom>
          <a:noFill/>
          <a:ln/>
        </p:spPr>
        <p:txBody>
          <a:bodyPr wrap="square" lIns="0" tIns="0" rIns="0" bIns="0" rtlCol="0" anchor="t">
            <a:noAutofit/>
          </a:bodyPr>
          <a:lstStyle/>
          <a:p>
            <a:r>
              <a:rPr lang="en-US" sz="4000" b="1" dirty="0">
                <a:solidFill>
                  <a:srgbClr val="1F2937"/>
                </a:solidFill>
              </a:rPr>
              <a:t>66%</a:t>
            </a:r>
            <a:endParaRPr lang="en-US" sz="4000" b="1" dirty="0"/>
          </a:p>
        </p:txBody>
      </p:sp>
      <p:sp>
        <p:nvSpPr>
          <p:cNvPr id="43" name="Text 15">
            <a:extLst>
              <a:ext uri="{FF2B5EF4-FFF2-40B4-BE49-F238E27FC236}">
                <a16:creationId xmlns:a16="http://schemas.microsoft.com/office/drawing/2014/main" id="{4E492B09-4FB8-273A-E22E-85C1EA93175A}"/>
              </a:ext>
            </a:extLst>
          </p:cNvPr>
          <p:cNvSpPr/>
          <p:nvPr/>
        </p:nvSpPr>
        <p:spPr>
          <a:xfrm>
            <a:off x="8202168" y="3926844"/>
            <a:ext cx="2880360" cy="541276"/>
          </a:xfrm>
          <a:prstGeom prst="rect">
            <a:avLst/>
          </a:prstGeom>
          <a:noFill/>
          <a:ln/>
        </p:spPr>
        <p:txBody>
          <a:bodyPr wrap="square" lIns="0" tIns="0" rIns="0" bIns="0" rtlCol="0" anchor="t">
            <a:noAutofit/>
          </a:bodyPr>
          <a:lstStyle/>
          <a:p>
            <a:r>
              <a:rPr lang="en-US" sz="1400" dirty="0">
                <a:solidFill>
                  <a:srgbClr val="5F6B7A"/>
                </a:solidFill>
              </a:rPr>
              <a:t>Approximate share of casual rides taken using e-bikes.</a:t>
            </a:r>
            <a:endParaRPr lang="en-US" sz="1400" dirty="0"/>
          </a:p>
        </p:txBody>
      </p:sp>
      <p:sp>
        <p:nvSpPr>
          <p:cNvPr id="46" name="Text 10">
            <a:extLst>
              <a:ext uri="{FF2B5EF4-FFF2-40B4-BE49-F238E27FC236}">
                <a16:creationId xmlns:a16="http://schemas.microsoft.com/office/drawing/2014/main" id="{BFFCD404-1A10-C00B-5CD0-5448C347EA63}"/>
              </a:ext>
            </a:extLst>
          </p:cNvPr>
          <p:cNvSpPr/>
          <p:nvPr/>
        </p:nvSpPr>
        <p:spPr>
          <a:xfrm>
            <a:off x="8202168" y="1389096"/>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Casual Rides</a:t>
            </a:r>
            <a:endParaRPr lang="en-US" sz="1600" dirty="0"/>
          </a:p>
        </p:txBody>
      </p:sp>
      <p:sp>
        <p:nvSpPr>
          <p:cNvPr id="47" name="Text 11">
            <a:extLst>
              <a:ext uri="{FF2B5EF4-FFF2-40B4-BE49-F238E27FC236}">
                <a16:creationId xmlns:a16="http://schemas.microsoft.com/office/drawing/2014/main" id="{2F3E9EC2-2E62-64F8-8593-0D46A094D353}"/>
              </a:ext>
            </a:extLst>
          </p:cNvPr>
          <p:cNvSpPr/>
          <p:nvPr/>
        </p:nvSpPr>
        <p:spPr>
          <a:xfrm>
            <a:off x="8202167" y="1681703"/>
            <a:ext cx="1050321" cy="560652"/>
          </a:xfrm>
          <a:prstGeom prst="rect">
            <a:avLst/>
          </a:prstGeom>
          <a:noFill/>
          <a:ln/>
        </p:spPr>
        <p:txBody>
          <a:bodyPr wrap="square" lIns="0" tIns="0" rIns="0" bIns="0" rtlCol="0" anchor="t">
            <a:noAutofit/>
          </a:bodyPr>
          <a:lstStyle/>
          <a:p>
            <a:r>
              <a:rPr lang="en-US" sz="4000" b="1" dirty="0">
                <a:solidFill>
                  <a:srgbClr val="1F2937"/>
                </a:solidFill>
              </a:rPr>
              <a:t>66%</a:t>
            </a:r>
            <a:endParaRPr lang="en-US" sz="4000" b="1" dirty="0"/>
          </a:p>
        </p:txBody>
      </p:sp>
      <p:sp>
        <p:nvSpPr>
          <p:cNvPr id="48" name="Text 15">
            <a:extLst>
              <a:ext uri="{FF2B5EF4-FFF2-40B4-BE49-F238E27FC236}">
                <a16:creationId xmlns:a16="http://schemas.microsoft.com/office/drawing/2014/main" id="{078F07C4-B653-9840-B567-0A68A5D0E522}"/>
              </a:ext>
            </a:extLst>
          </p:cNvPr>
          <p:cNvSpPr/>
          <p:nvPr/>
        </p:nvSpPr>
        <p:spPr>
          <a:xfrm>
            <a:off x="8202168" y="2250026"/>
            <a:ext cx="2880360" cy="541276"/>
          </a:xfrm>
          <a:prstGeom prst="rect">
            <a:avLst/>
          </a:prstGeom>
          <a:noFill/>
          <a:ln/>
        </p:spPr>
        <p:txBody>
          <a:bodyPr wrap="square" lIns="0" tIns="0" rIns="0" bIns="0" rtlCol="0" anchor="t">
            <a:noAutofit/>
          </a:bodyPr>
          <a:lstStyle/>
          <a:p>
            <a:r>
              <a:rPr lang="en-US" sz="1400" dirty="0">
                <a:solidFill>
                  <a:srgbClr val="5F6B7A"/>
                </a:solidFill>
              </a:rPr>
              <a:t>Approximate share of casual rides taken using e-bikes.</a:t>
            </a:r>
            <a:endParaRPr lang="en-US" sz="1400" dirty="0"/>
          </a:p>
        </p:txBody>
      </p:sp>
      <p:sp>
        <p:nvSpPr>
          <p:cNvPr id="49" name="Shape 8">
            <a:extLst>
              <a:ext uri="{FF2B5EF4-FFF2-40B4-BE49-F238E27FC236}">
                <a16:creationId xmlns:a16="http://schemas.microsoft.com/office/drawing/2014/main" id="{3E405CDA-0367-77D6-046F-B57DEE5C6D78}"/>
              </a:ext>
            </a:extLst>
          </p:cNvPr>
          <p:cNvSpPr/>
          <p:nvPr/>
        </p:nvSpPr>
        <p:spPr>
          <a:xfrm>
            <a:off x="8001000" y="1308019"/>
            <a:ext cx="3200400" cy="1571450"/>
          </a:xfrm>
          <a:prstGeom prst="roundRect">
            <a:avLst>
              <a:gd name="adj" fmla="val 6957"/>
            </a:avLst>
          </a:prstGeom>
          <a:solidFill>
            <a:srgbClr val="FFFFFF"/>
          </a:solidFill>
          <a:ln w="12700">
            <a:solidFill>
              <a:srgbClr val="E6E9ED"/>
            </a:solidFill>
            <a:prstDash val="solid"/>
          </a:ln>
        </p:spPr>
        <p:txBody>
          <a:bodyPr/>
          <a:lstStyle/>
          <a:p>
            <a:endParaRPr lang="en-US"/>
          </a:p>
        </p:txBody>
      </p:sp>
      <p:sp>
        <p:nvSpPr>
          <p:cNvPr id="50" name="Shape 9">
            <a:extLst>
              <a:ext uri="{FF2B5EF4-FFF2-40B4-BE49-F238E27FC236}">
                <a16:creationId xmlns:a16="http://schemas.microsoft.com/office/drawing/2014/main" id="{E9C8D7A9-3935-16E6-5DE0-85C101A4DFBD}"/>
              </a:ext>
            </a:extLst>
          </p:cNvPr>
          <p:cNvSpPr/>
          <p:nvPr/>
        </p:nvSpPr>
        <p:spPr>
          <a:xfrm>
            <a:off x="8000999" y="1308018"/>
            <a:ext cx="82295" cy="1571451"/>
          </a:xfrm>
          <a:prstGeom prst="rect">
            <a:avLst/>
          </a:prstGeom>
          <a:solidFill>
            <a:srgbClr val="02BFC4"/>
          </a:solidFill>
          <a:ln w="12700">
            <a:solidFill>
              <a:srgbClr val="02BFC4"/>
            </a:solidFill>
            <a:prstDash val="solid"/>
          </a:ln>
        </p:spPr>
        <p:txBody>
          <a:bodyPr/>
          <a:lstStyle/>
          <a:p>
            <a:endParaRPr lang="en-US"/>
          </a:p>
        </p:txBody>
      </p:sp>
      <p:sp>
        <p:nvSpPr>
          <p:cNvPr id="51" name="Text 10">
            <a:extLst>
              <a:ext uri="{FF2B5EF4-FFF2-40B4-BE49-F238E27FC236}">
                <a16:creationId xmlns:a16="http://schemas.microsoft.com/office/drawing/2014/main" id="{66310088-07C9-F9D8-857A-68C6B36DED99}"/>
              </a:ext>
            </a:extLst>
          </p:cNvPr>
          <p:cNvSpPr/>
          <p:nvPr/>
        </p:nvSpPr>
        <p:spPr>
          <a:xfrm>
            <a:off x="8202168" y="1382577"/>
            <a:ext cx="2880360" cy="219456"/>
          </a:xfrm>
          <a:prstGeom prst="rect">
            <a:avLst/>
          </a:prstGeom>
          <a:noFill/>
          <a:ln/>
        </p:spPr>
        <p:txBody>
          <a:bodyPr wrap="square" lIns="0" tIns="0" rIns="0" bIns="0" rtlCol="0" anchor="ctr"/>
          <a:lstStyle/>
          <a:p>
            <a:pPr marL="0" indent="0">
              <a:buNone/>
            </a:pPr>
            <a:r>
              <a:rPr lang="en-US" sz="1600" b="1" dirty="0">
                <a:solidFill>
                  <a:srgbClr val="17324D"/>
                </a:solidFill>
              </a:rPr>
              <a:t>Casual Rides</a:t>
            </a:r>
            <a:endParaRPr lang="en-US" sz="1600" dirty="0"/>
          </a:p>
        </p:txBody>
      </p:sp>
      <p:sp>
        <p:nvSpPr>
          <p:cNvPr id="52" name="Text 11">
            <a:extLst>
              <a:ext uri="{FF2B5EF4-FFF2-40B4-BE49-F238E27FC236}">
                <a16:creationId xmlns:a16="http://schemas.microsoft.com/office/drawing/2014/main" id="{8E16C942-5A73-6AD1-499B-A74D10412C35}"/>
              </a:ext>
            </a:extLst>
          </p:cNvPr>
          <p:cNvSpPr/>
          <p:nvPr/>
        </p:nvSpPr>
        <p:spPr>
          <a:xfrm>
            <a:off x="8202167" y="1675184"/>
            <a:ext cx="1050321" cy="560652"/>
          </a:xfrm>
          <a:prstGeom prst="rect">
            <a:avLst/>
          </a:prstGeom>
          <a:noFill/>
          <a:ln/>
        </p:spPr>
        <p:txBody>
          <a:bodyPr wrap="square" lIns="0" tIns="0" rIns="0" bIns="0" rtlCol="0" anchor="t">
            <a:noAutofit/>
          </a:bodyPr>
          <a:lstStyle/>
          <a:p>
            <a:r>
              <a:rPr lang="en-US" sz="4000" b="1" dirty="0">
                <a:solidFill>
                  <a:srgbClr val="1F2937"/>
                </a:solidFill>
              </a:rPr>
              <a:t>66%</a:t>
            </a:r>
            <a:endParaRPr lang="en-US" sz="4000" b="1" dirty="0"/>
          </a:p>
        </p:txBody>
      </p:sp>
      <p:sp>
        <p:nvSpPr>
          <p:cNvPr id="53" name="Text 15">
            <a:extLst>
              <a:ext uri="{FF2B5EF4-FFF2-40B4-BE49-F238E27FC236}">
                <a16:creationId xmlns:a16="http://schemas.microsoft.com/office/drawing/2014/main" id="{99BB1EAA-1398-044A-2B89-526467EF611C}"/>
              </a:ext>
            </a:extLst>
          </p:cNvPr>
          <p:cNvSpPr/>
          <p:nvPr/>
        </p:nvSpPr>
        <p:spPr>
          <a:xfrm>
            <a:off x="8202168" y="2243507"/>
            <a:ext cx="2880360" cy="541276"/>
          </a:xfrm>
          <a:prstGeom prst="rect">
            <a:avLst/>
          </a:prstGeom>
          <a:noFill/>
          <a:ln/>
        </p:spPr>
        <p:txBody>
          <a:bodyPr wrap="square" lIns="0" tIns="0" rIns="0" bIns="0" rtlCol="0" anchor="t">
            <a:noAutofit/>
          </a:bodyPr>
          <a:lstStyle/>
          <a:p>
            <a:r>
              <a:rPr lang="en-US" sz="1400" dirty="0">
                <a:solidFill>
                  <a:srgbClr val="5F6B7A"/>
                </a:solidFill>
              </a:rPr>
              <a:t>Approximate share of member rides taken using e-bikes.</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4389120" cy="201168"/>
          </a:xfrm>
          <a:prstGeom prst="rect">
            <a:avLst/>
          </a:prstGeom>
          <a:noFill/>
          <a:ln/>
        </p:spPr>
        <p:txBody>
          <a:bodyPr wrap="square" rtlCol="0" anchor="ctr"/>
          <a:lstStyle/>
          <a:p>
            <a:pPr marL="0" indent="0">
              <a:buNone/>
            </a:pPr>
            <a:r>
              <a:rPr lang="en-US" sz="750" b="1" dirty="0">
                <a:solidFill>
                  <a:srgbClr val="00BFC4"/>
                </a:solidFill>
                <a:latin typeface="Aptos" pitchFamily="34" charset="0"/>
                <a:ea typeface="Aptos" pitchFamily="34" charset="-122"/>
                <a:cs typeface="Aptos" pitchFamily="34" charset="-120"/>
              </a:rPr>
              <a:t>CYCLISTIC BIKE-SHARE CASE STUDY</a:t>
            </a:r>
            <a:endParaRPr lang="en-US" sz="750" dirty="0"/>
          </a:p>
        </p:txBody>
      </p:sp>
      <p:sp>
        <p:nvSpPr>
          <p:cNvPr id="3" name="Text 1"/>
          <p:cNvSpPr/>
          <p:nvPr/>
        </p:nvSpPr>
        <p:spPr>
          <a:xfrm>
            <a:off x="502920" y="530352"/>
            <a:ext cx="10515600" cy="502920"/>
          </a:xfrm>
          <a:prstGeom prst="rect">
            <a:avLst/>
          </a:prstGeom>
          <a:noFill/>
          <a:ln/>
        </p:spPr>
        <p:txBody>
          <a:bodyPr wrap="square" lIns="0" tIns="0" rIns="0" bIns="0" rtlCol="0" anchor="ctr"/>
          <a:lstStyle/>
          <a:p>
            <a:pPr marL="0" indent="0">
              <a:buNone/>
            </a:pPr>
            <a:r>
              <a:rPr lang="en-US" sz="2200" b="1" dirty="0">
                <a:solidFill>
                  <a:srgbClr val="17324D"/>
                </a:solidFill>
                <a:latin typeface="Aptos Display" pitchFamily="34" charset="0"/>
                <a:ea typeface="Aptos Display" pitchFamily="34" charset="-122"/>
                <a:cs typeface="Aptos Display" pitchFamily="34" charset="-120"/>
              </a:rPr>
              <a:t>Synthesis: the two groups have different usage logics</a:t>
            </a:r>
            <a:endParaRPr lang="en-US" sz="2200" dirty="0"/>
          </a:p>
        </p:txBody>
      </p:sp>
      <p:sp>
        <p:nvSpPr>
          <p:cNvPr id="4" name="Shape 2"/>
          <p:cNvSpPr/>
          <p:nvPr/>
        </p:nvSpPr>
        <p:spPr>
          <a:xfrm>
            <a:off x="502920" y="1115568"/>
            <a:ext cx="11173968" cy="0"/>
          </a:xfrm>
          <a:prstGeom prst="line">
            <a:avLst/>
          </a:prstGeom>
          <a:noFill/>
          <a:ln w="12700">
            <a:solidFill>
              <a:srgbClr val="E6E9ED"/>
            </a:solidFill>
            <a:prstDash val="solid"/>
          </a:ln>
        </p:spPr>
        <p:txBody>
          <a:bodyPr/>
          <a:lstStyle/>
          <a:p>
            <a:endParaRPr lang="en-US"/>
          </a:p>
        </p:txBody>
      </p:sp>
      <p:sp>
        <p:nvSpPr>
          <p:cNvPr id="9" name="Shape 7"/>
          <p:cNvSpPr/>
          <p:nvPr/>
        </p:nvSpPr>
        <p:spPr>
          <a:xfrm>
            <a:off x="731520" y="1463041"/>
            <a:ext cx="4937760" cy="3383280"/>
          </a:xfrm>
          <a:prstGeom prst="roundRect">
            <a:avLst>
              <a:gd name="adj" fmla="val 2500"/>
            </a:avLst>
          </a:prstGeom>
          <a:solidFill>
            <a:srgbClr val="E8FAFA"/>
          </a:solidFill>
          <a:ln w="12700">
            <a:solidFill>
              <a:srgbClr val="BDEFEF"/>
            </a:solidFill>
            <a:prstDash val="solid"/>
          </a:ln>
        </p:spPr>
        <p:txBody>
          <a:bodyPr/>
          <a:lstStyle/>
          <a:p>
            <a:endParaRPr lang="en-US"/>
          </a:p>
        </p:txBody>
      </p:sp>
      <p:sp>
        <p:nvSpPr>
          <p:cNvPr id="10" name="Text 8"/>
          <p:cNvSpPr/>
          <p:nvPr/>
        </p:nvSpPr>
        <p:spPr>
          <a:xfrm>
            <a:off x="1005840" y="1737360"/>
            <a:ext cx="4389120" cy="320040"/>
          </a:xfrm>
          <a:prstGeom prst="rect">
            <a:avLst/>
          </a:prstGeom>
          <a:noFill/>
          <a:ln/>
        </p:spPr>
        <p:txBody>
          <a:bodyPr wrap="square" lIns="0" tIns="0" rIns="0" bIns="0" rtlCol="0" anchor="ctr"/>
          <a:lstStyle/>
          <a:p>
            <a:pPr marL="0" indent="0">
              <a:buNone/>
            </a:pPr>
            <a:r>
              <a:rPr lang="en-US" sz="3200" b="1" dirty="0">
                <a:solidFill>
                  <a:srgbClr val="17324D"/>
                </a:solidFill>
              </a:rPr>
              <a:t>Annual members</a:t>
            </a:r>
            <a:endParaRPr lang="en-US" sz="3200" dirty="0"/>
          </a:p>
        </p:txBody>
      </p:sp>
      <p:sp>
        <p:nvSpPr>
          <p:cNvPr id="11" name="Text 9"/>
          <p:cNvSpPr/>
          <p:nvPr/>
        </p:nvSpPr>
        <p:spPr>
          <a:xfrm>
            <a:off x="1005840" y="2331720"/>
            <a:ext cx="4251960" cy="2116294"/>
          </a:xfrm>
          <a:prstGeom prst="rect">
            <a:avLst/>
          </a:prstGeom>
          <a:noFill/>
          <a:ln/>
        </p:spPr>
        <p:txBody>
          <a:bodyPr wrap="square" lIns="254" tIns="254" rIns="254" bIns="254" rtlCol="0" anchor="t">
            <a:normAutofit/>
          </a:bodyPr>
          <a:lstStyle/>
          <a:p>
            <a:pPr marL="228600" indent="-228600" algn="just">
              <a:buFont typeface="+mj-lt"/>
              <a:buAutoNum type="arabicPeriod"/>
            </a:pPr>
            <a:r>
              <a:rPr lang="en-US" dirty="0">
                <a:solidFill>
                  <a:srgbClr val="1F2937"/>
                </a:solidFill>
              </a:rPr>
              <a:t>Higher total ride volume</a:t>
            </a:r>
            <a:endParaRPr lang="en-US" dirty="0"/>
          </a:p>
          <a:p>
            <a:pPr marL="228600" indent="-228600" algn="just">
              <a:buFont typeface="+mj-lt"/>
              <a:buAutoNum type="arabicPeriod"/>
            </a:pPr>
            <a:r>
              <a:rPr lang="en-US" dirty="0">
                <a:solidFill>
                  <a:srgbClr val="1F2937"/>
                </a:solidFill>
              </a:rPr>
              <a:t>Shorter average ride lengths</a:t>
            </a:r>
            <a:endParaRPr lang="en-US" dirty="0"/>
          </a:p>
          <a:p>
            <a:pPr marL="228600" indent="-228600" algn="just">
              <a:buFont typeface="+mj-lt"/>
              <a:buAutoNum type="arabicPeriod"/>
            </a:pPr>
            <a:r>
              <a:rPr lang="en-US" dirty="0">
                <a:solidFill>
                  <a:srgbClr val="1F2937"/>
                </a:solidFill>
              </a:rPr>
              <a:t>Stronger weekday pattern</a:t>
            </a:r>
            <a:endParaRPr lang="en-US" dirty="0"/>
          </a:p>
          <a:p>
            <a:pPr marL="228600" indent="-228600" algn="just">
              <a:buFont typeface="+mj-lt"/>
              <a:buAutoNum type="arabicPeriod"/>
            </a:pPr>
            <a:r>
              <a:rPr lang="en-US" dirty="0">
                <a:solidFill>
                  <a:srgbClr val="1F2937"/>
                </a:solidFill>
              </a:rPr>
              <a:t>Morning and late-afternoon commute-adjacent peaks</a:t>
            </a:r>
            <a:endParaRPr lang="en-US" dirty="0"/>
          </a:p>
          <a:p>
            <a:pPr marL="228600" indent="-228600" algn="just">
              <a:buFont typeface="+mj-lt"/>
              <a:buAutoNum type="arabicPeriod"/>
            </a:pPr>
            <a:r>
              <a:rPr lang="en-US" dirty="0">
                <a:solidFill>
                  <a:srgbClr val="1F2937"/>
                </a:solidFill>
              </a:rPr>
              <a:t>E-bike usage supports practical urban mobility</a:t>
            </a:r>
            <a:endParaRPr lang="en-US" dirty="0"/>
          </a:p>
        </p:txBody>
      </p:sp>
      <p:sp>
        <p:nvSpPr>
          <p:cNvPr id="12" name="Shape 10"/>
          <p:cNvSpPr/>
          <p:nvPr/>
        </p:nvSpPr>
        <p:spPr>
          <a:xfrm>
            <a:off x="6537960" y="1463041"/>
            <a:ext cx="4937760" cy="3383280"/>
          </a:xfrm>
          <a:prstGeom prst="roundRect">
            <a:avLst>
              <a:gd name="adj" fmla="val 2500"/>
            </a:avLst>
          </a:prstGeom>
          <a:solidFill>
            <a:srgbClr val="FFF0EE"/>
          </a:solidFill>
          <a:ln w="12700">
            <a:solidFill>
              <a:srgbClr val="FFD5CF"/>
            </a:solidFill>
            <a:prstDash val="solid"/>
          </a:ln>
        </p:spPr>
        <p:txBody>
          <a:bodyPr/>
          <a:lstStyle/>
          <a:p>
            <a:endParaRPr lang="en-US"/>
          </a:p>
        </p:txBody>
      </p:sp>
      <p:sp>
        <p:nvSpPr>
          <p:cNvPr id="13" name="Text 11"/>
          <p:cNvSpPr/>
          <p:nvPr/>
        </p:nvSpPr>
        <p:spPr>
          <a:xfrm>
            <a:off x="6812280" y="1737360"/>
            <a:ext cx="4389120" cy="320040"/>
          </a:xfrm>
          <a:prstGeom prst="rect">
            <a:avLst/>
          </a:prstGeom>
          <a:noFill/>
          <a:ln/>
        </p:spPr>
        <p:txBody>
          <a:bodyPr wrap="square" lIns="0" tIns="0" rIns="0" bIns="0" rtlCol="0" anchor="ctr"/>
          <a:lstStyle/>
          <a:p>
            <a:pPr marL="0" indent="0">
              <a:buNone/>
            </a:pPr>
            <a:r>
              <a:rPr lang="en-US" sz="3200" b="1" dirty="0">
                <a:solidFill>
                  <a:srgbClr val="17324D"/>
                </a:solidFill>
              </a:rPr>
              <a:t>Casual riders</a:t>
            </a:r>
            <a:endParaRPr lang="en-US" sz="3200" dirty="0"/>
          </a:p>
        </p:txBody>
      </p:sp>
      <p:sp>
        <p:nvSpPr>
          <p:cNvPr id="14" name="Text 12"/>
          <p:cNvSpPr/>
          <p:nvPr/>
        </p:nvSpPr>
        <p:spPr>
          <a:xfrm>
            <a:off x="6812280" y="2331720"/>
            <a:ext cx="4251960" cy="1868321"/>
          </a:xfrm>
          <a:prstGeom prst="rect">
            <a:avLst/>
          </a:prstGeom>
          <a:noFill/>
          <a:ln/>
        </p:spPr>
        <p:txBody>
          <a:bodyPr wrap="square" lIns="254" tIns="254" rIns="254" bIns="254" rtlCol="0" anchor="t">
            <a:normAutofit/>
          </a:bodyPr>
          <a:lstStyle/>
          <a:p>
            <a:pPr marL="228600" indent="-228600" algn="just">
              <a:buFont typeface="+mj-lt"/>
              <a:buAutoNum type="arabicPeriod"/>
            </a:pPr>
            <a:r>
              <a:rPr lang="en-US" dirty="0">
                <a:solidFill>
                  <a:srgbClr val="1F2937"/>
                </a:solidFill>
              </a:rPr>
              <a:t>Lower total ride volume</a:t>
            </a:r>
            <a:endParaRPr lang="en-US" dirty="0"/>
          </a:p>
          <a:p>
            <a:pPr marL="228600" indent="-228600" algn="just">
              <a:buFont typeface="+mj-lt"/>
              <a:buAutoNum type="arabicPeriod"/>
            </a:pPr>
            <a:r>
              <a:rPr lang="en-US" dirty="0">
                <a:solidFill>
                  <a:srgbClr val="1F2937"/>
                </a:solidFill>
              </a:rPr>
              <a:t>Longer average ride lengths</a:t>
            </a:r>
            <a:endParaRPr lang="en-US" dirty="0"/>
          </a:p>
          <a:p>
            <a:pPr marL="228600" indent="-228600" algn="just">
              <a:buFont typeface="+mj-lt"/>
              <a:buAutoNum type="arabicPeriod"/>
            </a:pPr>
            <a:r>
              <a:rPr lang="en-US" dirty="0">
                <a:solidFill>
                  <a:srgbClr val="1F2937"/>
                </a:solidFill>
              </a:rPr>
              <a:t>Stronger weekend pattern</a:t>
            </a:r>
            <a:endParaRPr lang="en-US" dirty="0"/>
          </a:p>
          <a:p>
            <a:pPr marL="228600" indent="-228600" algn="just">
              <a:buFont typeface="+mj-lt"/>
              <a:buAutoNum type="arabicPeriod"/>
            </a:pPr>
            <a:r>
              <a:rPr lang="en-US" dirty="0">
                <a:solidFill>
                  <a:srgbClr val="1F2937"/>
                </a:solidFill>
              </a:rPr>
              <a:t>More leisure/discretionary usage signal</a:t>
            </a:r>
            <a:endParaRPr lang="en-US" dirty="0"/>
          </a:p>
          <a:p>
            <a:pPr marL="228600" indent="-228600" algn="just">
              <a:buFont typeface="+mj-lt"/>
              <a:buAutoNum type="arabicPeriod"/>
            </a:pPr>
            <a:r>
              <a:rPr lang="en-US" dirty="0">
                <a:solidFill>
                  <a:srgbClr val="1F2937"/>
                </a:solidFill>
              </a:rPr>
              <a:t>E-bike usage supports longer, easier recreational trips</a:t>
            </a:r>
            <a:endParaRPr lang="en-US" dirty="0"/>
          </a:p>
        </p:txBody>
      </p:sp>
      <p:sp>
        <p:nvSpPr>
          <p:cNvPr id="15" name="Shape 13"/>
          <p:cNvSpPr/>
          <p:nvPr/>
        </p:nvSpPr>
        <p:spPr>
          <a:xfrm>
            <a:off x="6096000" y="1473889"/>
            <a:ext cx="0" cy="3383280"/>
          </a:xfrm>
          <a:prstGeom prst="line">
            <a:avLst/>
          </a:prstGeom>
          <a:noFill/>
          <a:ln w="25400">
            <a:solidFill>
              <a:srgbClr val="E6E9ED"/>
            </a:solidFill>
            <a:prstDash val="solid"/>
          </a:ln>
        </p:spPr>
        <p:txBody>
          <a:bodyPr/>
          <a:lstStyle/>
          <a:p>
            <a:endParaRPr lang="en-US"/>
          </a:p>
        </p:txBody>
      </p:sp>
      <p:sp>
        <p:nvSpPr>
          <p:cNvPr id="17" name="Text 15"/>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18" name="Text 16"/>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09</a:t>
            </a:r>
            <a:endParaRPr lang="en-US" sz="750" dirty="0"/>
          </a:p>
        </p:txBody>
      </p:sp>
      <p:sp>
        <p:nvSpPr>
          <p:cNvPr id="19" name="Shape 5">
            <a:extLst>
              <a:ext uri="{FF2B5EF4-FFF2-40B4-BE49-F238E27FC236}">
                <a16:creationId xmlns:a16="http://schemas.microsoft.com/office/drawing/2014/main" id="{95390CD8-ECDE-2502-EFB0-D8DB006E3D42}"/>
              </a:ext>
            </a:extLst>
          </p:cNvPr>
          <p:cNvSpPr/>
          <p:nvPr/>
        </p:nvSpPr>
        <p:spPr>
          <a:xfrm>
            <a:off x="2590800" y="5271516"/>
            <a:ext cx="6979888" cy="852095"/>
          </a:xfrm>
          <a:prstGeom prst="roundRect">
            <a:avLst>
              <a:gd name="adj" fmla="val 11429"/>
            </a:avLst>
          </a:prstGeom>
          <a:solidFill>
            <a:srgbClr val="FFFFFF"/>
          </a:solidFill>
          <a:ln w="12700">
            <a:solidFill>
              <a:srgbClr val="E6E9ED"/>
            </a:solidFill>
            <a:prstDash val="solid"/>
          </a:ln>
        </p:spPr>
        <p:txBody>
          <a:bodyPr/>
          <a:lstStyle/>
          <a:p>
            <a:endParaRPr lang="en-US"/>
          </a:p>
        </p:txBody>
      </p:sp>
      <p:sp>
        <p:nvSpPr>
          <p:cNvPr id="20" name="Shape 6">
            <a:extLst>
              <a:ext uri="{FF2B5EF4-FFF2-40B4-BE49-F238E27FC236}">
                <a16:creationId xmlns:a16="http://schemas.microsoft.com/office/drawing/2014/main" id="{BAA7A850-3192-C71C-8CB6-B873817A08BE}"/>
              </a:ext>
            </a:extLst>
          </p:cNvPr>
          <p:cNvSpPr/>
          <p:nvPr/>
        </p:nvSpPr>
        <p:spPr>
          <a:xfrm>
            <a:off x="2590800" y="5271517"/>
            <a:ext cx="83820" cy="852094"/>
          </a:xfrm>
          <a:prstGeom prst="rect">
            <a:avLst/>
          </a:prstGeom>
          <a:solidFill>
            <a:schemeClr val="tx1">
              <a:lumMod val="75000"/>
              <a:lumOff val="25000"/>
            </a:schemeClr>
          </a:solidFill>
          <a:ln w="12700">
            <a:solidFill>
              <a:schemeClr val="bg2">
                <a:lumMod val="25000"/>
              </a:schemeClr>
            </a:solidFill>
            <a:prstDash val="solid"/>
          </a:ln>
        </p:spPr>
        <p:txBody>
          <a:bodyPr/>
          <a:lstStyle/>
          <a:p>
            <a:endParaRPr lang="en-US"/>
          </a:p>
        </p:txBody>
      </p:sp>
      <p:sp>
        <p:nvSpPr>
          <p:cNvPr id="21" name="Text 7">
            <a:extLst>
              <a:ext uri="{FF2B5EF4-FFF2-40B4-BE49-F238E27FC236}">
                <a16:creationId xmlns:a16="http://schemas.microsoft.com/office/drawing/2014/main" id="{7BD9C087-4801-E7D5-C5EB-B64970379EB2}"/>
              </a:ext>
            </a:extLst>
          </p:cNvPr>
          <p:cNvSpPr/>
          <p:nvPr/>
        </p:nvSpPr>
        <p:spPr>
          <a:xfrm>
            <a:off x="2842260" y="5478106"/>
            <a:ext cx="6652260" cy="219456"/>
          </a:xfrm>
          <a:prstGeom prst="rect">
            <a:avLst/>
          </a:prstGeom>
          <a:noFill/>
          <a:ln/>
        </p:spPr>
        <p:txBody>
          <a:bodyPr wrap="square" lIns="0" tIns="0" rIns="0" bIns="0" rtlCol="0" anchor="ctr"/>
          <a:lstStyle/>
          <a:p>
            <a:pPr marL="0" indent="0">
              <a:buNone/>
            </a:pPr>
            <a:r>
              <a:rPr lang="en-US" b="1" dirty="0">
                <a:solidFill>
                  <a:srgbClr val="17324D"/>
                </a:solidFill>
              </a:rPr>
              <a:t>CORE TAKEAWAY:</a:t>
            </a:r>
            <a:endParaRPr lang="en-US" dirty="0"/>
          </a:p>
        </p:txBody>
      </p:sp>
      <p:sp>
        <p:nvSpPr>
          <p:cNvPr id="22" name="Text 8">
            <a:extLst>
              <a:ext uri="{FF2B5EF4-FFF2-40B4-BE49-F238E27FC236}">
                <a16:creationId xmlns:a16="http://schemas.microsoft.com/office/drawing/2014/main" id="{F5492E55-CE48-E21A-CE92-2B8F7897DC09}"/>
              </a:ext>
            </a:extLst>
          </p:cNvPr>
          <p:cNvSpPr/>
          <p:nvPr/>
        </p:nvSpPr>
        <p:spPr>
          <a:xfrm>
            <a:off x="2842260" y="5697563"/>
            <a:ext cx="6652260" cy="347472"/>
          </a:xfrm>
          <a:prstGeom prst="rect">
            <a:avLst/>
          </a:prstGeom>
          <a:noFill/>
          <a:ln/>
        </p:spPr>
        <p:txBody>
          <a:bodyPr wrap="square" lIns="0" tIns="0" rIns="0" bIns="0" rtlCol="0" anchor="t">
            <a:noAutofit/>
          </a:bodyPr>
          <a:lstStyle/>
          <a:p>
            <a:r>
              <a:rPr lang="en-US" sz="1600" i="1" dirty="0">
                <a:solidFill>
                  <a:srgbClr val="17324D"/>
                </a:solidFill>
              </a:rPr>
              <a:t>Casual riders should not be treated as merely “lower-frequency members”.</a:t>
            </a:r>
            <a:endParaRPr lang="en-US" sz="1600" i="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4389120" cy="201168"/>
          </a:xfrm>
          <a:prstGeom prst="rect">
            <a:avLst/>
          </a:prstGeom>
          <a:noFill/>
          <a:ln/>
        </p:spPr>
        <p:txBody>
          <a:bodyPr wrap="square" rtlCol="0" anchor="ctr"/>
          <a:lstStyle/>
          <a:p>
            <a:pPr marL="0" indent="0">
              <a:buNone/>
            </a:pPr>
            <a:r>
              <a:rPr lang="en-US" sz="750" b="1" dirty="0">
                <a:solidFill>
                  <a:srgbClr val="00BFC4"/>
                </a:solidFill>
                <a:latin typeface="Aptos" pitchFamily="34" charset="0"/>
                <a:ea typeface="Aptos" pitchFamily="34" charset="-122"/>
                <a:cs typeface="Aptos" pitchFamily="34" charset="-120"/>
              </a:rPr>
              <a:t>CYCLISTIC BIKE-SHARE CASE STUDY</a:t>
            </a:r>
            <a:endParaRPr lang="en-US" sz="750" dirty="0"/>
          </a:p>
        </p:txBody>
      </p:sp>
      <p:sp>
        <p:nvSpPr>
          <p:cNvPr id="3" name="Text 1"/>
          <p:cNvSpPr/>
          <p:nvPr/>
        </p:nvSpPr>
        <p:spPr>
          <a:xfrm>
            <a:off x="502920" y="530352"/>
            <a:ext cx="10515600" cy="502920"/>
          </a:xfrm>
          <a:prstGeom prst="rect">
            <a:avLst/>
          </a:prstGeom>
          <a:noFill/>
          <a:ln/>
        </p:spPr>
        <p:txBody>
          <a:bodyPr wrap="square" lIns="0" tIns="0" rIns="0" bIns="0" rtlCol="0" anchor="ctr"/>
          <a:lstStyle/>
          <a:p>
            <a:pPr marL="0" indent="0">
              <a:buNone/>
            </a:pPr>
            <a:r>
              <a:rPr lang="en-US" sz="2200" b="1" dirty="0">
                <a:solidFill>
                  <a:srgbClr val="17324D"/>
                </a:solidFill>
                <a:latin typeface="Aptos Display" pitchFamily="34" charset="0"/>
                <a:ea typeface="Aptos Display" pitchFamily="34" charset="-122"/>
                <a:cs typeface="Aptos Display" pitchFamily="34" charset="-120"/>
              </a:rPr>
              <a:t>My recommendations for Cyclistic</a:t>
            </a:r>
            <a:endParaRPr lang="en-US" sz="2200" dirty="0"/>
          </a:p>
        </p:txBody>
      </p:sp>
      <p:sp>
        <p:nvSpPr>
          <p:cNvPr id="4" name="Shape 2"/>
          <p:cNvSpPr/>
          <p:nvPr/>
        </p:nvSpPr>
        <p:spPr>
          <a:xfrm>
            <a:off x="502920" y="1115568"/>
            <a:ext cx="11173968" cy="0"/>
          </a:xfrm>
          <a:prstGeom prst="line">
            <a:avLst/>
          </a:prstGeom>
          <a:noFill/>
          <a:ln w="12700">
            <a:solidFill>
              <a:srgbClr val="E6E9ED"/>
            </a:solidFill>
            <a:prstDash val="solid"/>
          </a:ln>
        </p:spPr>
        <p:txBody>
          <a:bodyPr/>
          <a:lstStyle/>
          <a:p>
            <a:endParaRPr lang="en-US"/>
          </a:p>
        </p:txBody>
      </p:sp>
      <p:grpSp>
        <p:nvGrpSpPr>
          <p:cNvPr id="17" name="Group 16">
            <a:extLst>
              <a:ext uri="{FF2B5EF4-FFF2-40B4-BE49-F238E27FC236}">
                <a16:creationId xmlns:a16="http://schemas.microsoft.com/office/drawing/2014/main" id="{A2282B1D-B4AD-CBDB-EDDE-6E18167909E5}"/>
              </a:ext>
            </a:extLst>
          </p:cNvPr>
          <p:cNvGrpSpPr/>
          <p:nvPr/>
        </p:nvGrpSpPr>
        <p:grpSpPr>
          <a:xfrm>
            <a:off x="685800" y="1417320"/>
            <a:ext cx="3611880" cy="3232398"/>
            <a:chOff x="685800" y="1417320"/>
            <a:chExt cx="3611880" cy="3232398"/>
          </a:xfrm>
        </p:grpSpPr>
        <p:sp>
          <p:nvSpPr>
            <p:cNvPr id="5" name="Shape 3"/>
            <p:cNvSpPr/>
            <p:nvPr/>
          </p:nvSpPr>
          <p:spPr>
            <a:xfrm>
              <a:off x="685800" y="1417320"/>
              <a:ext cx="3611880" cy="3232398"/>
            </a:xfrm>
            <a:prstGeom prst="roundRect">
              <a:avLst>
                <a:gd name="adj" fmla="val 2025"/>
              </a:avLst>
            </a:prstGeom>
            <a:solidFill>
              <a:srgbClr val="FFFFFF"/>
            </a:solidFill>
            <a:ln w="12700">
              <a:solidFill>
                <a:srgbClr val="E6E9ED"/>
              </a:solidFill>
              <a:prstDash val="solid"/>
            </a:ln>
          </p:spPr>
          <p:txBody>
            <a:bodyPr/>
            <a:lstStyle/>
            <a:p>
              <a:endParaRPr lang="en-US"/>
            </a:p>
          </p:txBody>
        </p:sp>
        <p:sp>
          <p:nvSpPr>
            <p:cNvPr id="6" name="Shape 4"/>
            <p:cNvSpPr/>
            <p:nvPr/>
          </p:nvSpPr>
          <p:spPr>
            <a:xfrm>
              <a:off x="685800" y="1417320"/>
              <a:ext cx="73152" cy="3232394"/>
            </a:xfrm>
            <a:prstGeom prst="rect">
              <a:avLst/>
            </a:prstGeom>
            <a:solidFill>
              <a:srgbClr val="F8766D"/>
            </a:solidFill>
            <a:ln w="12700">
              <a:solidFill>
                <a:srgbClr val="F8766D"/>
              </a:solidFill>
              <a:prstDash val="solid"/>
            </a:ln>
          </p:spPr>
          <p:txBody>
            <a:bodyPr/>
            <a:lstStyle/>
            <a:p>
              <a:endParaRPr lang="en-US"/>
            </a:p>
          </p:txBody>
        </p:sp>
      </p:grpSp>
      <p:sp>
        <p:nvSpPr>
          <p:cNvPr id="7" name="Text 5"/>
          <p:cNvSpPr/>
          <p:nvPr/>
        </p:nvSpPr>
        <p:spPr>
          <a:xfrm>
            <a:off x="969686" y="1992319"/>
            <a:ext cx="3291840" cy="714310"/>
          </a:xfrm>
          <a:prstGeom prst="rect">
            <a:avLst/>
          </a:prstGeom>
          <a:noFill/>
          <a:ln/>
        </p:spPr>
        <p:txBody>
          <a:bodyPr wrap="square" lIns="0" tIns="0" rIns="0" bIns="0" rtlCol="0" anchor="ctr"/>
          <a:lstStyle/>
          <a:p>
            <a:pPr marL="0" indent="0">
              <a:buNone/>
            </a:pPr>
            <a:r>
              <a:rPr lang="en-US" b="1" dirty="0">
                <a:solidFill>
                  <a:srgbClr val="17324D"/>
                </a:solidFill>
              </a:rPr>
              <a:t>Launch seasonal conversion campaigns</a:t>
            </a:r>
            <a:endParaRPr lang="en-US" dirty="0"/>
          </a:p>
        </p:txBody>
      </p:sp>
      <p:sp>
        <p:nvSpPr>
          <p:cNvPr id="8" name="Text 6"/>
          <p:cNvSpPr/>
          <p:nvPr/>
        </p:nvSpPr>
        <p:spPr>
          <a:xfrm>
            <a:off x="969686" y="2857505"/>
            <a:ext cx="3169094" cy="1623055"/>
          </a:xfrm>
          <a:prstGeom prst="rect">
            <a:avLst/>
          </a:prstGeom>
          <a:noFill/>
          <a:ln/>
        </p:spPr>
        <p:txBody>
          <a:bodyPr wrap="square" lIns="0" tIns="0" rIns="0" bIns="0" rtlCol="0" anchor="t">
            <a:normAutofit/>
          </a:bodyPr>
          <a:lstStyle/>
          <a:p>
            <a:pPr marL="0" indent="0" algn="just">
              <a:buNone/>
            </a:pPr>
            <a:r>
              <a:rPr lang="en-US" sz="1600" dirty="0">
                <a:solidFill>
                  <a:srgbClr val="1F2937"/>
                </a:solidFill>
              </a:rPr>
              <a:t>Run warmer-month membership campaigns before and during peak ridership. Frame membership as cost-effective for repeated recreational and weekend use, not only commuting.</a:t>
            </a:r>
            <a:endParaRPr lang="en-US" sz="1600" dirty="0"/>
          </a:p>
        </p:txBody>
      </p:sp>
      <p:grpSp>
        <p:nvGrpSpPr>
          <p:cNvPr id="27" name="Group 26">
            <a:extLst>
              <a:ext uri="{FF2B5EF4-FFF2-40B4-BE49-F238E27FC236}">
                <a16:creationId xmlns:a16="http://schemas.microsoft.com/office/drawing/2014/main" id="{37B78E5B-B935-D0D2-F39F-84C690ACAF73}"/>
              </a:ext>
            </a:extLst>
          </p:cNvPr>
          <p:cNvGrpSpPr/>
          <p:nvPr/>
        </p:nvGrpSpPr>
        <p:grpSpPr>
          <a:xfrm>
            <a:off x="4553712" y="1417320"/>
            <a:ext cx="3611880" cy="3232398"/>
            <a:chOff x="4553712" y="1417320"/>
            <a:chExt cx="3611880" cy="3232398"/>
          </a:xfrm>
        </p:grpSpPr>
        <p:sp>
          <p:nvSpPr>
            <p:cNvPr id="9" name="Shape 7"/>
            <p:cNvSpPr/>
            <p:nvPr/>
          </p:nvSpPr>
          <p:spPr>
            <a:xfrm>
              <a:off x="4553712" y="1417320"/>
              <a:ext cx="3611880" cy="3232398"/>
            </a:xfrm>
            <a:prstGeom prst="roundRect">
              <a:avLst>
                <a:gd name="adj" fmla="val 2025"/>
              </a:avLst>
            </a:prstGeom>
            <a:solidFill>
              <a:srgbClr val="FFFFFF"/>
            </a:solidFill>
            <a:ln w="12700">
              <a:solidFill>
                <a:srgbClr val="E6E9ED"/>
              </a:solidFill>
              <a:prstDash val="solid"/>
            </a:ln>
          </p:spPr>
          <p:txBody>
            <a:bodyPr/>
            <a:lstStyle/>
            <a:p>
              <a:endParaRPr lang="en-US"/>
            </a:p>
          </p:txBody>
        </p:sp>
        <p:sp>
          <p:nvSpPr>
            <p:cNvPr id="10" name="Shape 8"/>
            <p:cNvSpPr/>
            <p:nvPr/>
          </p:nvSpPr>
          <p:spPr>
            <a:xfrm>
              <a:off x="4553712" y="1417320"/>
              <a:ext cx="73152" cy="3232398"/>
            </a:xfrm>
            <a:prstGeom prst="rect">
              <a:avLst/>
            </a:prstGeom>
            <a:solidFill>
              <a:srgbClr val="00BFC4"/>
            </a:solidFill>
            <a:ln w="12700">
              <a:solidFill>
                <a:srgbClr val="00BFC4"/>
              </a:solidFill>
              <a:prstDash val="solid"/>
            </a:ln>
          </p:spPr>
          <p:txBody>
            <a:bodyPr/>
            <a:lstStyle/>
            <a:p>
              <a:endParaRPr lang="en-US"/>
            </a:p>
          </p:txBody>
        </p:sp>
      </p:grpSp>
      <p:sp>
        <p:nvSpPr>
          <p:cNvPr id="11" name="Text 9"/>
          <p:cNvSpPr/>
          <p:nvPr/>
        </p:nvSpPr>
        <p:spPr>
          <a:xfrm>
            <a:off x="4837598" y="1992319"/>
            <a:ext cx="3291840" cy="714310"/>
          </a:xfrm>
          <a:prstGeom prst="rect">
            <a:avLst/>
          </a:prstGeom>
          <a:noFill/>
          <a:ln/>
        </p:spPr>
        <p:txBody>
          <a:bodyPr wrap="square" lIns="0" tIns="0" rIns="0" bIns="0" rtlCol="0" anchor="ctr"/>
          <a:lstStyle/>
          <a:p>
            <a:pPr marL="0" indent="0">
              <a:buNone/>
            </a:pPr>
            <a:r>
              <a:rPr lang="en-US" b="1" dirty="0">
                <a:solidFill>
                  <a:srgbClr val="17324D"/>
                </a:solidFill>
              </a:rPr>
              <a:t>Target high-potential casual riders</a:t>
            </a:r>
            <a:endParaRPr lang="en-US" dirty="0"/>
          </a:p>
        </p:txBody>
      </p:sp>
      <p:sp>
        <p:nvSpPr>
          <p:cNvPr id="12" name="Text 10"/>
          <p:cNvSpPr/>
          <p:nvPr/>
        </p:nvSpPr>
        <p:spPr>
          <a:xfrm>
            <a:off x="4837598" y="2857505"/>
            <a:ext cx="3169094" cy="1623055"/>
          </a:xfrm>
          <a:prstGeom prst="rect">
            <a:avLst/>
          </a:prstGeom>
          <a:noFill/>
          <a:ln/>
        </p:spPr>
        <p:txBody>
          <a:bodyPr wrap="square" lIns="0" tIns="0" rIns="0" bIns="0" rtlCol="0" anchor="t">
            <a:normAutofit/>
          </a:bodyPr>
          <a:lstStyle/>
          <a:p>
            <a:pPr marL="0" indent="0" algn="just">
              <a:buNone/>
            </a:pPr>
            <a:r>
              <a:rPr lang="en-US" sz="1600" dirty="0">
                <a:solidFill>
                  <a:srgbClr val="1F2937"/>
                </a:solidFill>
              </a:rPr>
              <a:t>Prioritise casual riders who ride repeatedly, use e-bikes frequently, or take longer weekend trips. Use personalised cost comparisons to show when membership becomes financially sensible.</a:t>
            </a:r>
            <a:endParaRPr lang="en-US" sz="1600" dirty="0"/>
          </a:p>
        </p:txBody>
      </p:sp>
      <p:grpSp>
        <p:nvGrpSpPr>
          <p:cNvPr id="28" name="Group 27">
            <a:extLst>
              <a:ext uri="{FF2B5EF4-FFF2-40B4-BE49-F238E27FC236}">
                <a16:creationId xmlns:a16="http://schemas.microsoft.com/office/drawing/2014/main" id="{FCBE251F-63DF-5A4A-FDDF-537CC0E4CFD8}"/>
              </a:ext>
            </a:extLst>
          </p:cNvPr>
          <p:cNvGrpSpPr/>
          <p:nvPr/>
        </p:nvGrpSpPr>
        <p:grpSpPr>
          <a:xfrm>
            <a:off x="8412480" y="1417320"/>
            <a:ext cx="3017520" cy="3232399"/>
            <a:chOff x="8412480" y="1417320"/>
            <a:chExt cx="3017520" cy="3232399"/>
          </a:xfrm>
        </p:grpSpPr>
        <p:sp>
          <p:nvSpPr>
            <p:cNvPr id="13" name="Shape 11"/>
            <p:cNvSpPr/>
            <p:nvPr/>
          </p:nvSpPr>
          <p:spPr>
            <a:xfrm>
              <a:off x="8412480" y="1417321"/>
              <a:ext cx="3017520" cy="3232398"/>
            </a:xfrm>
            <a:prstGeom prst="roundRect">
              <a:avLst>
                <a:gd name="adj" fmla="val 2424"/>
              </a:avLst>
            </a:prstGeom>
            <a:solidFill>
              <a:srgbClr val="FFFFFF"/>
            </a:solidFill>
            <a:ln w="12700">
              <a:solidFill>
                <a:srgbClr val="E6E9ED"/>
              </a:solidFill>
              <a:prstDash val="solid"/>
            </a:ln>
          </p:spPr>
          <p:txBody>
            <a:bodyPr/>
            <a:lstStyle/>
            <a:p>
              <a:endParaRPr lang="en-US"/>
            </a:p>
          </p:txBody>
        </p:sp>
        <p:sp>
          <p:nvSpPr>
            <p:cNvPr id="14" name="Shape 12"/>
            <p:cNvSpPr/>
            <p:nvPr/>
          </p:nvSpPr>
          <p:spPr>
            <a:xfrm>
              <a:off x="8412480" y="1417320"/>
              <a:ext cx="73152" cy="3232398"/>
            </a:xfrm>
            <a:prstGeom prst="rect">
              <a:avLst/>
            </a:prstGeom>
            <a:solidFill>
              <a:srgbClr val="17324D"/>
            </a:solidFill>
            <a:ln w="12700">
              <a:solidFill>
                <a:srgbClr val="17324D"/>
              </a:solidFill>
              <a:prstDash val="solid"/>
            </a:ln>
          </p:spPr>
          <p:txBody>
            <a:bodyPr/>
            <a:lstStyle/>
            <a:p>
              <a:endParaRPr lang="en-US"/>
            </a:p>
          </p:txBody>
        </p:sp>
      </p:grpSp>
      <p:sp>
        <p:nvSpPr>
          <p:cNvPr id="15" name="Text 13"/>
          <p:cNvSpPr/>
          <p:nvPr/>
        </p:nvSpPr>
        <p:spPr>
          <a:xfrm>
            <a:off x="8696366" y="1992319"/>
            <a:ext cx="2697480" cy="714310"/>
          </a:xfrm>
          <a:prstGeom prst="rect">
            <a:avLst/>
          </a:prstGeom>
          <a:noFill/>
          <a:ln/>
        </p:spPr>
        <p:txBody>
          <a:bodyPr wrap="square" lIns="0" tIns="0" rIns="0" bIns="0" rtlCol="0" anchor="ctr"/>
          <a:lstStyle/>
          <a:p>
            <a:pPr marL="0" indent="0">
              <a:buNone/>
            </a:pPr>
            <a:r>
              <a:rPr lang="en-US" b="1" dirty="0">
                <a:solidFill>
                  <a:srgbClr val="17324D"/>
                </a:solidFill>
              </a:rPr>
              <a:t>Reframe membership around leisure</a:t>
            </a:r>
            <a:endParaRPr lang="en-US" dirty="0"/>
          </a:p>
        </p:txBody>
      </p:sp>
      <p:sp>
        <p:nvSpPr>
          <p:cNvPr id="16" name="Text 14"/>
          <p:cNvSpPr/>
          <p:nvPr/>
        </p:nvSpPr>
        <p:spPr>
          <a:xfrm>
            <a:off x="8686800" y="2857505"/>
            <a:ext cx="2596896" cy="1623055"/>
          </a:xfrm>
          <a:prstGeom prst="rect">
            <a:avLst/>
          </a:prstGeom>
          <a:noFill/>
          <a:ln/>
        </p:spPr>
        <p:txBody>
          <a:bodyPr wrap="square" lIns="0" tIns="0" rIns="0" bIns="0" rtlCol="0" anchor="t">
            <a:normAutofit/>
          </a:bodyPr>
          <a:lstStyle/>
          <a:p>
            <a:pPr marL="0" indent="0" algn="just">
              <a:buNone/>
            </a:pPr>
            <a:r>
              <a:rPr lang="en-US" sz="1600" dirty="0">
                <a:solidFill>
                  <a:srgbClr val="1F2937"/>
                </a:solidFill>
              </a:rPr>
              <a:t>Build weekend and leisure-based messaging around exploration, flexibility, popular routes, e-bike convenience, and spontaneous city travel.</a:t>
            </a:r>
            <a:endParaRPr lang="en-US" sz="1600" dirty="0"/>
          </a:p>
        </p:txBody>
      </p:sp>
      <p:sp>
        <p:nvSpPr>
          <p:cNvPr id="18" name="Text 16"/>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19" name="Text 17"/>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10</a:t>
            </a:r>
            <a:endParaRPr lang="en-US" sz="750" dirty="0"/>
          </a:p>
        </p:txBody>
      </p:sp>
      <p:sp>
        <p:nvSpPr>
          <p:cNvPr id="20" name="Shape 5">
            <a:extLst>
              <a:ext uri="{FF2B5EF4-FFF2-40B4-BE49-F238E27FC236}">
                <a16:creationId xmlns:a16="http://schemas.microsoft.com/office/drawing/2014/main" id="{3795281C-9A18-D686-E7FD-D4EF797C9C38}"/>
              </a:ext>
            </a:extLst>
          </p:cNvPr>
          <p:cNvSpPr/>
          <p:nvPr/>
        </p:nvSpPr>
        <p:spPr>
          <a:xfrm>
            <a:off x="2517648" y="5026189"/>
            <a:ext cx="6979888" cy="1138428"/>
          </a:xfrm>
          <a:prstGeom prst="roundRect">
            <a:avLst>
              <a:gd name="adj" fmla="val 11429"/>
            </a:avLst>
          </a:prstGeom>
          <a:solidFill>
            <a:srgbClr val="FFFFFF"/>
          </a:solidFill>
          <a:ln w="12700">
            <a:solidFill>
              <a:srgbClr val="E6E9ED"/>
            </a:solidFill>
            <a:prstDash val="solid"/>
          </a:ln>
        </p:spPr>
        <p:txBody>
          <a:bodyPr/>
          <a:lstStyle/>
          <a:p>
            <a:endParaRPr lang="en-US"/>
          </a:p>
        </p:txBody>
      </p:sp>
      <p:sp>
        <p:nvSpPr>
          <p:cNvPr id="21" name="Shape 6">
            <a:extLst>
              <a:ext uri="{FF2B5EF4-FFF2-40B4-BE49-F238E27FC236}">
                <a16:creationId xmlns:a16="http://schemas.microsoft.com/office/drawing/2014/main" id="{F83D6297-839D-DAFF-AD83-26BF6CA53DB2}"/>
              </a:ext>
            </a:extLst>
          </p:cNvPr>
          <p:cNvSpPr/>
          <p:nvPr/>
        </p:nvSpPr>
        <p:spPr>
          <a:xfrm>
            <a:off x="2517648" y="5026189"/>
            <a:ext cx="83820" cy="1138427"/>
          </a:xfrm>
          <a:prstGeom prst="rect">
            <a:avLst/>
          </a:prstGeom>
          <a:solidFill>
            <a:schemeClr val="tx1">
              <a:lumMod val="75000"/>
              <a:lumOff val="25000"/>
            </a:schemeClr>
          </a:solidFill>
          <a:ln w="12700">
            <a:solidFill>
              <a:schemeClr val="bg2">
                <a:lumMod val="25000"/>
              </a:schemeClr>
            </a:solidFill>
            <a:prstDash val="solid"/>
          </a:ln>
        </p:spPr>
        <p:txBody>
          <a:bodyPr/>
          <a:lstStyle/>
          <a:p>
            <a:endParaRPr lang="en-US"/>
          </a:p>
        </p:txBody>
      </p:sp>
      <p:sp>
        <p:nvSpPr>
          <p:cNvPr id="22" name="Text 7">
            <a:extLst>
              <a:ext uri="{FF2B5EF4-FFF2-40B4-BE49-F238E27FC236}">
                <a16:creationId xmlns:a16="http://schemas.microsoft.com/office/drawing/2014/main" id="{DD74FFE7-A245-55C4-8971-3D5273B9FF26}"/>
              </a:ext>
            </a:extLst>
          </p:cNvPr>
          <p:cNvSpPr/>
          <p:nvPr/>
        </p:nvSpPr>
        <p:spPr>
          <a:xfrm>
            <a:off x="2769108" y="5232779"/>
            <a:ext cx="6652260" cy="219456"/>
          </a:xfrm>
          <a:prstGeom prst="rect">
            <a:avLst/>
          </a:prstGeom>
          <a:noFill/>
          <a:ln/>
        </p:spPr>
        <p:txBody>
          <a:bodyPr wrap="square" lIns="0" tIns="0" rIns="0" bIns="0" rtlCol="0" anchor="ctr"/>
          <a:lstStyle/>
          <a:p>
            <a:pPr marL="0" indent="0">
              <a:buNone/>
            </a:pPr>
            <a:r>
              <a:rPr lang="en-US" b="1" dirty="0">
                <a:solidFill>
                  <a:srgbClr val="17324D"/>
                </a:solidFill>
              </a:rPr>
              <a:t>STRATEGIC PRINCIPLE:</a:t>
            </a:r>
            <a:endParaRPr lang="en-US" dirty="0"/>
          </a:p>
        </p:txBody>
      </p:sp>
      <p:sp>
        <p:nvSpPr>
          <p:cNvPr id="23" name="Text 8">
            <a:extLst>
              <a:ext uri="{FF2B5EF4-FFF2-40B4-BE49-F238E27FC236}">
                <a16:creationId xmlns:a16="http://schemas.microsoft.com/office/drawing/2014/main" id="{7EEC41EB-730E-BB9C-1937-B4F5084F715E}"/>
              </a:ext>
            </a:extLst>
          </p:cNvPr>
          <p:cNvSpPr/>
          <p:nvPr/>
        </p:nvSpPr>
        <p:spPr>
          <a:xfrm>
            <a:off x="2769108" y="5452236"/>
            <a:ext cx="6652260" cy="347472"/>
          </a:xfrm>
          <a:prstGeom prst="rect">
            <a:avLst/>
          </a:prstGeom>
          <a:noFill/>
          <a:ln/>
        </p:spPr>
        <p:txBody>
          <a:bodyPr wrap="square" lIns="0" tIns="0" rIns="0" bIns="0" rtlCol="0" anchor="t">
            <a:noAutofit/>
          </a:bodyPr>
          <a:lstStyle/>
          <a:p>
            <a:r>
              <a:rPr lang="en-US" sz="1600" i="1" dirty="0">
                <a:solidFill>
                  <a:srgbClr val="17324D"/>
                </a:solidFill>
              </a:rPr>
              <a:t>Target behavior that already resembles high engagement instead of attempting to convert every casual rider equally.</a:t>
            </a:r>
            <a:endParaRPr lang="en-US" sz="1600" i="1" dirty="0"/>
          </a:p>
        </p:txBody>
      </p:sp>
      <p:sp>
        <p:nvSpPr>
          <p:cNvPr id="24" name="Text 11">
            <a:extLst>
              <a:ext uri="{FF2B5EF4-FFF2-40B4-BE49-F238E27FC236}">
                <a16:creationId xmlns:a16="http://schemas.microsoft.com/office/drawing/2014/main" id="{91302A53-4DB6-72E2-9247-B84AA8F29599}"/>
              </a:ext>
            </a:extLst>
          </p:cNvPr>
          <p:cNvSpPr/>
          <p:nvPr/>
        </p:nvSpPr>
        <p:spPr>
          <a:xfrm>
            <a:off x="952834" y="1488912"/>
            <a:ext cx="501893" cy="560652"/>
          </a:xfrm>
          <a:prstGeom prst="rect">
            <a:avLst/>
          </a:prstGeom>
          <a:noFill/>
          <a:ln/>
        </p:spPr>
        <p:txBody>
          <a:bodyPr wrap="square" lIns="0" tIns="0" rIns="0" bIns="0" rtlCol="0" anchor="t">
            <a:noAutofit/>
          </a:bodyPr>
          <a:lstStyle/>
          <a:p>
            <a:r>
              <a:rPr lang="en-US" sz="4000" b="1" dirty="0">
                <a:solidFill>
                  <a:srgbClr val="F9766D"/>
                </a:solidFill>
              </a:rPr>
              <a:t>1.</a:t>
            </a:r>
          </a:p>
        </p:txBody>
      </p:sp>
      <p:sp>
        <p:nvSpPr>
          <p:cNvPr id="25" name="Text 11">
            <a:extLst>
              <a:ext uri="{FF2B5EF4-FFF2-40B4-BE49-F238E27FC236}">
                <a16:creationId xmlns:a16="http://schemas.microsoft.com/office/drawing/2014/main" id="{D91E339B-300D-30BF-B8B2-DE19CC209162}"/>
              </a:ext>
            </a:extLst>
          </p:cNvPr>
          <p:cNvSpPr/>
          <p:nvPr/>
        </p:nvSpPr>
        <p:spPr>
          <a:xfrm>
            <a:off x="4837598" y="1488912"/>
            <a:ext cx="501893" cy="560652"/>
          </a:xfrm>
          <a:prstGeom prst="rect">
            <a:avLst/>
          </a:prstGeom>
          <a:noFill/>
          <a:ln/>
        </p:spPr>
        <p:txBody>
          <a:bodyPr wrap="square" lIns="0" tIns="0" rIns="0" bIns="0" rtlCol="0" anchor="t">
            <a:noAutofit/>
          </a:bodyPr>
          <a:lstStyle/>
          <a:p>
            <a:r>
              <a:rPr lang="en-US" sz="4000" b="1" dirty="0">
                <a:solidFill>
                  <a:srgbClr val="02BFC4"/>
                </a:solidFill>
              </a:rPr>
              <a:t>2.</a:t>
            </a:r>
          </a:p>
        </p:txBody>
      </p:sp>
      <p:sp>
        <p:nvSpPr>
          <p:cNvPr id="26" name="Text 11">
            <a:extLst>
              <a:ext uri="{FF2B5EF4-FFF2-40B4-BE49-F238E27FC236}">
                <a16:creationId xmlns:a16="http://schemas.microsoft.com/office/drawing/2014/main" id="{A8E1F5BB-348B-6F09-81CE-2A0512FA35A5}"/>
              </a:ext>
            </a:extLst>
          </p:cNvPr>
          <p:cNvSpPr/>
          <p:nvPr/>
        </p:nvSpPr>
        <p:spPr>
          <a:xfrm>
            <a:off x="8696366" y="1488912"/>
            <a:ext cx="501893" cy="560652"/>
          </a:xfrm>
          <a:prstGeom prst="rect">
            <a:avLst/>
          </a:prstGeom>
          <a:noFill/>
          <a:ln/>
        </p:spPr>
        <p:txBody>
          <a:bodyPr wrap="square" lIns="0" tIns="0" rIns="0" bIns="0" rtlCol="0" anchor="t">
            <a:noAutofit/>
          </a:bodyPr>
          <a:lstStyle/>
          <a:p>
            <a:r>
              <a:rPr lang="en-US" sz="4000" b="1" dirty="0">
                <a:solidFill>
                  <a:srgbClr val="17314D"/>
                </a:solidFill>
              </a:rPr>
              <a:t>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4389120" cy="201168"/>
          </a:xfrm>
          <a:prstGeom prst="rect">
            <a:avLst/>
          </a:prstGeom>
          <a:noFill/>
          <a:ln/>
        </p:spPr>
        <p:txBody>
          <a:bodyPr wrap="square" rtlCol="0" anchor="ctr"/>
          <a:lstStyle/>
          <a:p>
            <a:pPr marL="0" indent="0">
              <a:buNone/>
            </a:pPr>
            <a:r>
              <a:rPr lang="en-US" sz="750" b="1" dirty="0">
                <a:solidFill>
                  <a:srgbClr val="00BFC4"/>
                </a:solidFill>
                <a:latin typeface="Aptos" pitchFamily="34" charset="0"/>
                <a:ea typeface="Aptos" pitchFamily="34" charset="-122"/>
                <a:cs typeface="Aptos" pitchFamily="34" charset="-120"/>
              </a:rPr>
              <a:t>CYCLISTIC BIKE-SHARE CASE STUDY</a:t>
            </a:r>
            <a:endParaRPr lang="en-US" sz="750" dirty="0"/>
          </a:p>
        </p:txBody>
      </p:sp>
      <p:sp>
        <p:nvSpPr>
          <p:cNvPr id="3" name="Text 1"/>
          <p:cNvSpPr/>
          <p:nvPr/>
        </p:nvSpPr>
        <p:spPr>
          <a:xfrm>
            <a:off x="502920" y="530352"/>
            <a:ext cx="10515600" cy="502920"/>
          </a:xfrm>
          <a:prstGeom prst="rect">
            <a:avLst/>
          </a:prstGeom>
          <a:noFill/>
          <a:ln/>
        </p:spPr>
        <p:txBody>
          <a:bodyPr wrap="square" lIns="0" tIns="0" rIns="0" bIns="0" rtlCol="0" anchor="ctr"/>
          <a:lstStyle/>
          <a:p>
            <a:pPr marL="0" indent="0">
              <a:buNone/>
            </a:pPr>
            <a:r>
              <a:rPr lang="en-US" sz="2200" b="1" dirty="0">
                <a:solidFill>
                  <a:srgbClr val="17324D"/>
                </a:solidFill>
                <a:latin typeface="Aptos Display" pitchFamily="34" charset="0"/>
                <a:ea typeface="Aptos Display" pitchFamily="34" charset="-122"/>
                <a:cs typeface="Aptos Display" pitchFamily="34" charset="-120"/>
              </a:rPr>
              <a:t>Limitations and next steps</a:t>
            </a:r>
            <a:endParaRPr lang="en-US" sz="2200" dirty="0"/>
          </a:p>
        </p:txBody>
      </p:sp>
      <p:sp>
        <p:nvSpPr>
          <p:cNvPr id="4" name="Shape 2"/>
          <p:cNvSpPr/>
          <p:nvPr/>
        </p:nvSpPr>
        <p:spPr>
          <a:xfrm>
            <a:off x="502920" y="1115568"/>
            <a:ext cx="11173968" cy="0"/>
          </a:xfrm>
          <a:prstGeom prst="line">
            <a:avLst/>
          </a:prstGeom>
          <a:noFill/>
          <a:ln w="12700">
            <a:solidFill>
              <a:srgbClr val="E6E9ED"/>
            </a:solidFill>
            <a:prstDash val="solid"/>
          </a:ln>
        </p:spPr>
        <p:txBody>
          <a:bodyPr/>
          <a:lstStyle/>
          <a:p>
            <a:endParaRPr lang="en-US"/>
          </a:p>
        </p:txBody>
      </p:sp>
      <p:sp>
        <p:nvSpPr>
          <p:cNvPr id="5" name="Shape 3"/>
          <p:cNvSpPr/>
          <p:nvPr/>
        </p:nvSpPr>
        <p:spPr>
          <a:xfrm>
            <a:off x="777240" y="1644124"/>
            <a:ext cx="5166360" cy="2068339"/>
          </a:xfrm>
          <a:prstGeom prst="roundRect">
            <a:avLst>
              <a:gd name="adj" fmla="val 3902"/>
            </a:avLst>
          </a:prstGeom>
          <a:solidFill>
            <a:srgbClr val="FFFFFF"/>
          </a:solidFill>
          <a:ln w="12700">
            <a:solidFill>
              <a:srgbClr val="E6E9ED"/>
            </a:solidFill>
            <a:prstDash val="solid"/>
          </a:ln>
        </p:spPr>
        <p:txBody>
          <a:bodyPr/>
          <a:lstStyle/>
          <a:p>
            <a:endParaRPr lang="en-US"/>
          </a:p>
        </p:txBody>
      </p:sp>
      <p:sp>
        <p:nvSpPr>
          <p:cNvPr id="6" name="Shape 4"/>
          <p:cNvSpPr/>
          <p:nvPr/>
        </p:nvSpPr>
        <p:spPr>
          <a:xfrm>
            <a:off x="777240" y="1644124"/>
            <a:ext cx="73152" cy="2068339"/>
          </a:xfrm>
          <a:prstGeom prst="rect">
            <a:avLst/>
          </a:prstGeom>
          <a:solidFill>
            <a:srgbClr val="F8766D"/>
          </a:solidFill>
          <a:ln w="12700">
            <a:solidFill>
              <a:srgbClr val="F8766D"/>
            </a:solidFill>
            <a:prstDash val="solid"/>
          </a:ln>
        </p:spPr>
        <p:txBody>
          <a:bodyPr/>
          <a:lstStyle/>
          <a:p>
            <a:endParaRPr lang="en-US"/>
          </a:p>
        </p:txBody>
      </p:sp>
      <p:sp>
        <p:nvSpPr>
          <p:cNvPr id="7" name="Text 5"/>
          <p:cNvSpPr/>
          <p:nvPr/>
        </p:nvSpPr>
        <p:spPr>
          <a:xfrm>
            <a:off x="1004277" y="1877298"/>
            <a:ext cx="4712286" cy="219456"/>
          </a:xfrm>
          <a:prstGeom prst="rect">
            <a:avLst/>
          </a:prstGeom>
          <a:noFill/>
          <a:ln/>
        </p:spPr>
        <p:txBody>
          <a:bodyPr wrap="square" lIns="0" tIns="0" rIns="0" bIns="0" rtlCol="0" anchor="ctr"/>
          <a:lstStyle/>
          <a:p>
            <a:pPr marL="0" indent="0">
              <a:buNone/>
            </a:pPr>
            <a:r>
              <a:rPr lang="en-US" sz="2400" b="1" dirty="0">
                <a:solidFill>
                  <a:srgbClr val="17324D"/>
                </a:solidFill>
              </a:rPr>
              <a:t>Current limitations</a:t>
            </a:r>
            <a:endParaRPr lang="en-US" sz="2400" dirty="0"/>
          </a:p>
        </p:txBody>
      </p:sp>
      <p:sp>
        <p:nvSpPr>
          <p:cNvPr id="8" name="Text 6"/>
          <p:cNvSpPr/>
          <p:nvPr/>
        </p:nvSpPr>
        <p:spPr>
          <a:xfrm>
            <a:off x="1004277" y="2284206"/>
            <a:ext cx="4712286" cy="1307592"/>
          </a:xfrm>
          <a:prstGeom prst="rect">
            <a:avLst/>
          </a:prstGeom>
          <a:noFill/>
          <a:ln/>
        </p:spPr>
        <p:txBody>
          <a:bodyPr wrap="square" lIns="0" tIns="0" rIns="0" bIns="0" rtlCol="0" anchor="t">
            <a:noAutofit/>
          </a:bodyPr>
          <a:lstStyle/>
          <a:p>
            <a:pPr marL="0" indent="0" algn="just">
              <a:buNone/>
            </a:pPr>
            <a:r>
              <a:rPr lang="en-US" sz="1600" dirty="0">
                <a:solidFill>
                  <a:srgbClr val="1F2937"/>
                </a:solidFill>
              </a:rPr>
              <a:t>The dataset does not include rider demographics, pricing history, weather, customer motivations, marketing exposure, or confirmed conversion outcomes. It also has missing station fields, so route analysis was excluded.</a:t>
            </a:r>
            <a:endParaRPr lang="en-US" sz="1600" dirty="0"/>
          </a:p>
        </p:txBody>
      </p:sp>
      <p:sp>
        <p:nvSpPr>
          <p:cNvPr id="9" name="Shape 7"/>
          <p:cNvSpPr/>
          <p:nvPr/>
        </p:nvSpPr>
        <p:spPr>
          <a:xfrm>
            <a:off x="6263640" y="1644124"/>
            <a:ext cx="5166360" cy="2068339"/>
          </a:xfrm>
          <a:prstGeom prst="roundRect">
            <a:avLst>
              <a:gd name="adj" fmla="val 3902"/>
            </a:avLst>
          </a:prstGeom>
          <a:solidFill>
            <a:srgbClr val="FFFFFF"/>
          </a:solidFill>
          <a:ln w="12700">
            <a:solidFill>
              <a:srgbClr val="E6E9ED"/>
            </a:solidFill>
            <a:prstDash val="solid"/>
          </a:ln>
        </p:spPr>
        <p:txBody>
          <a:bodyPr/>
          <a:lstStyle/>
          <a:p>
            <a:endParaRPr lang="en-US"/>
          </a:p>
        </p:txBody>
      </p:sp>
      <p:sp>
        <p:nvSpPr>
          <p:cNvPr id="10" name="Shape 8"/>
          <p:cNvSpPr/>
          <p:nvPr/>
        </p:nvSpPr>
        <p:spPr>
          <a:xfrm>
            <a:off x="6263640" y="1644124"/>
            <a:ext cx="73152" cy="2068339"/>
          </a:xfrm>
          <a:prstGeom prst="rect">
            <a:avLst/>
          </a:prstGeom>
          <a:solidFill>
            <a:srgbClr val="00BFC4"/>
          </a:solidFill>
          <a:ln w="12700">
            <a:solidFill>
              <a:srgbClr val="00BFC4"/>
            </a:solidFill>
            <a:prstDash val="solid"/>
          </a:ln>
        </p:spPr>
        <p:txBody>
          <a:bodyPr/>
          <a:lstStyle/>
          <a:p>
            <a:endParaRPr lang="en-US"/>
          </a:p>
        </p:txBody>
      </p:sp>
      <p:sp>
        <p:nvSpPr>
          <p:cNvPr id="11" name="Text 9"/>
          <p:cNvSpPr/>
          <p:nvPr/>
        </p:nvSpPr>
        <p:spPr>
          <a:xfrm>
            <a:off x="6490677" y="1877298"/>
            <a:ext cx="4712286" cy="219456"/>
          </a:xfrm>
          <a:prstGeom prst="rect">
            <a:avLst/>
          </a:prstGeom>
          <a:noFill/>
          <a:ln/>
        </p:spPr>
        <p:txBody>
          <a:bodyPr wrap="square" lIns="0" tIns="0" rIns="0" bIns="0" rtlCol="0" anchor="ctr"/>
          <a:lstStyle/>
          <a:p>
            <a:pPr marL="0" indent="0">
              <a:buNone/>
            </a:pPr>
            <a:r>
              <a:rPr lang="en-US" sz="2400" b="1" dirty="0">
                <a:solidFill>
                  <a:srgbClr val="17324D"/>
                </a:solidFill>
              </a:rPr>
              <a:t>Next analyses</a:t>
            </a:r>
            <a:endParaRPr lang="en-US" sz="2400" dirty="0"/>
          </a:p>
        </p:txBody>
      </p:sp>
      <p:sp>
        <p:nvSpPr>
          <p:cNvPr id="12" name="Text 10"/>
          <p:cNvSpPr/>
          <p:nvPr/>
        </p:nvSpPr>
        <p:spPr>
          <a:xfrm>
            <a:off x="6490677" y="2284206"/>
            <a:ext cx="4712286" cy="1307592"/>
          </a:xfrm>
          <a:prstGeom prst="rect">
            <a:avLst/>
          </a:prstGeom>
          <a:noFill/>
          <a:ln/>
        </p:spPr>
        <p:txBody>
          <a:bodyPr wrap="square" lIns="0" tIns="0" rIns="0" bIns="0" rtlCol="0" anchor="t">
            <a:normAutofit/>
          </a:bodyPr>
          <a:lstStyle/>
          <a:p>
            <a:pPr marL="0" indent="0" algn="just">
              <a:buNone/>
            </a:pPr>
            <a:r>
              <a:rPr lang="en-US" sz="1600" dirty="0">
                <a:solidFill>
                  <a:srgbClr val="1F2937"/>
                </a:solidFill>
              </a:rPr>
              <a:t>Add weather data, pricing data, campaign data, and repeat-casual identifiers. Segment casual riders into tourists/visitors, local leisure users, and high-frequency near-members.</a:t>
            </a:r>
            <a:endParaRPr lang="en-US" sz="1600" dirty="0"/>
          </a:p>
        </p:txBody>
      </p:sp>
      <p:sp>
        <p:nvSpPr>
          <p:cNvPr id="17" name="Text 15"/>
          <p:cNvSpPr/>
          <p:nvPr/>
        </p:nvSpPr>
        <p:spPr>
          <a:xfrm>
            <a:off x="502920" y="6537960"/>
            <a:ext cx="7315200" cy="164592"/>
          </a:xfrm>
          <a:prstGeom prst="rect">
            <a:avLst/>
          </a:prstGeom>
          <a:noFill/>
          <a:ln/>
        </p:spPr>
        <p:txBody>
          <a:bodyPr wrap="square" rtlCol="0" anchor="ctr"/>
          <a:lstStyle/>
          <a:p>
            <a:pPr marL="0" indent="0">
              <a:buNone/>
            </a:pPr>
            <a:r>
              <a:rPr lang="en-US" sz="680" dirty="0">
                <a:solidFill>
                  <a:srgbClr val="7A8493"/>
                </a:solidFill>
              </a:rPr>
              <a:t>Google Data Analytics Professional Certificate | Case Study 1</a:t>
            </a:r>
            <a:endParaRPr lang="en-US" sz="680" dirty="0"/>
          </a:p>
        </p:txBody>
      </p:sp>
      <p:sp>
        <p:nvSpPr>
          <p:cNvPr id="18" name="Text 16"/>
          <p:cNvSpPr/>
          <p:nvPr/>
        </p:nvSpPr>
        <p:spPr>
          <a:xfrm>
            <a:off x="11201400" y="6473952"/>
            <a:ext cx="502920" cy="228600"/>
          </a:xfrm>
          <a:prstGeom prst="rect">
            <a:avLst/>
          </a:prstGeom>
          <a:noFill/>
          <a:ln/>
        </p:spPr>
        <p:txBody>
          <a:bodyPr wrap="square" rtlCol="0" anchor="ctr"/>
          <a:lstStyle/>
          <a:p>
            <a:pPr marL="0" indent="0" algn="r">
              <a:buNone/>
            </a:pPr>
            <a:r>
              <a:rPr lang="en-US" sz="750" dirty="0">
                <a:solidFill>
                  <a:srgbClr val="7A8493"/>
                </a:solidFill>
              </a:rPr>
              <a:t>12</a:t>
            </a:r>
            <a:endParaRPr lang="en-US" sz="750" dirty="0"/>
          </a:p>
        </p:txBody>
      </p:sp>
      <p:sp>
        <p:nvSpPr>
          <p:cNvPr id="19" name="Shape 5">
            <a:extLst>
              <a:ext uri="{FF2B5EF4-FFF2-40B4-BE49-F238E27FC236}">
                <a16:creationId xmlns:a16="http://schemas.microsoft.com/office/drawing/2014/main" id="{C3B2EA4E-EDEC-4F48-6E12-A30D64312112}"/>
              </a:ext>
            </a:extLst>
          </p:cNvPr>
          <p:cNvSpPr/>
          <p:nvPr/>
        </p:nvSpPr>
        <p:spPr>
          <a:xfrm>
            <a:off x="2517648" y="4157252"/>
            <a:ext cx="6979888" cy="1908499"/>
          </a:xfrm>
          <a:prstGeom prst="roundRect">
            <a:avLst>
              <a:gd name="adj" fmla="val 11429"/>
            </a:avLst>
          </a:prstGeom>
          <a:solidFill>
            <a:srgbClr val="FFFFFF"/>
          </a:solidFill>
          <a:ln w="12700">
            <a:solidFill>
              <a:srgbClr val="E6E9ED"/>
            </a:solidFill>
            <a:prstDash val="solid"/>
          </a:ln>
        </p:spPr>
        <p:txBody>
          <a:bodyPr/>
          <a:lstStyle/>
          <a:p>
            <a:endParaRPr lang="en-US"/>
          </a:p>
        </p:txBody>
      </p:sp>
      <p:sp>
        <p:nvSpPr>
          <p:cNvPr id="20" name="Shape 6">
            <a:extLst>
              <a:ext uri="{FF2B5EF4-FFF2-40B4-BE49-F238E27FC236}">
                <a16:creationId xmlns:a16="http://schemas.microsoft.com/office/drawing/2014/main" id="{101B1100-C4E4-17E1-17E5-D319F96E59A8}"/>
              </a:ext>
            </a:extLst>
          </p:cNvPr>
          <p:cNvSpPr/>
          <p:nvPr/>
        </p:nvSpPr>
        <p:spPr>
          <a:xfrm>
            <a:off x="2517648" y="4157253"/>
            <a:ext cx="175292" cy="1908498"/>
          </a:xfrm>
          <a:prstGeom prst="rect">
            <a:avLst/>
          </a:prstGeom>
          <a:solidFill>
            <a:schemeClr val="tx1">
              <a:lumMod val="75000"/>
              <a:lumOff val="25000"/>
            </a:schemeClr>
          </a:solidFill>
          <a:ln w="12700">
            <a:solidFill>
              <a:schemeClr val="bg2">
                <a:lumMod val="25000"/>
              </a:schemeClr>
            </a:solidFill>
            <a:prstDash val="solid"/>
          </a:ln>
        </p:spPr>
        <p:txBody>
          <a:bodyPr/>
          <a:lstStyle/>
          <a:p>
            <a:endParaRPr lang="en-US"/>
          </a:p>
        </p:txBody>
      </p:sp>
      <p:sp>
        <p:nvSpPr>
          <p:cNvPr id="21" name="Text 7">
            <a:extLst>
              <a:ext uri="{FF2B5EF4-FFF2-40B4-BE49-F238E27FC236}">
                <a16:creationId xmlns:a16="http://schemas.microsoft.com/office/drawing/2014/main" id="{812B65DC-03EA-F3B4-D80B-9B82B6775D70}"/>
              </a:ext>
            </a:extLst>
          </p:cNvPr>
          <p:cNvSpPr/>
          <p:nvPr/>
        </p:nvSpPr>
        <p:spPr>
          <a:xfrm>
            <a:off x="2896763" y="4320949"/>
            <a:ext cx="6421742" cy="219456"/>
          </a:xfrm>
          <a:prstGeom prst="rect">
            <a:avLst/>
          </a:prstGeom>
          <a:noFill/>
          <a:ln/>
        </p:spPr>
        <p:txBody>
          <a:bodyPr wrap="square" lIns="0" tIns="0" rIns="0" bIns="0" rtlCol="0" anchor="ctr"/>
          <a:lstStyle/>
          <a:p>
            <a:pPr marL="0" indent="0">
              <a:buNone/>
            </a:pPr>
            <a:r>
              <a:rPr lang="en-US" b="1" dirty="0">
                <a:solidFill>
                  <a:srgbClr val="17324D"/>
                </a:solidFill>
              </a:rPr>
              <a:t>FINAL MESSAGE:</a:t>
            </a:r>
            <a:endParaRPr lang="en-US" dirty="0"/>
          </a:p>
        </p:txBody>
      </p:sp>
      <p:sp>
        <p:nvSpPr>
          <p:cNvPr id="22" name="Text 8">
            <a:extLst>
              <a:ext uri="{FF2B5EF4-FFF2-40B4-BE49-F238E27FC236}">
                <a16:creationId xmlns:a16="http://schemas.microsoft.com/office/drawing/2014/main" id="{05F37573-6D6D-7664-1B05-00C758E2AAE7}"/>
              </a:ext>
            </a:extLst>
          </p:cNvPr>
          <p:cNvSpPr/>
          <p:nvPr/>
        </p:nvSpPr>
        <p:spPr>
          <a:xfrm>
            <a:off x="2896763" y="4655912"/>
            <a:ext cx="6421742" cy="1086520"/>
          </a:xfrm>
          <a:prstGeom prst="rect">
            <a:avLst/>
          </a:prstGeom>
          <a:noFill/>
          <a:ln/>
        </p:spPr>
        <p:txBody>
          <a:bodyPr wrap="square" lIns="0" tIns="0" rIns="0" bIns="0" rtlCol="0" anchor="t">
            <a:noAutofit/>
          </a:bodyPr>
          <a:lstStyle/>
          <a:p>
            <a:pPr algn="just"/>
            <a:r>
              <a:rPr lang="en-US" sz="1600" dirty="0" err="1">
                <a:solidFill>
                  <a:srgbClr val="1F2937"/>
                </a:solidFill>
              </a:rPr>
              <a:t>Cyclistic’s</a:t>
            </a:r>
            <a:r>
              <a:rPr lang="en-US" sz="1600" dirty="0">
                <a:solidFill>
                  <a:srgbClr val="1F2937"/>
                </a:solidFill>
              </a:rPr>
              <a:t> strongest opportunity is not to market annual membership to all casual riders equally, but to identify high-potential casual users and speak to the motivations already visible in their </a:t>
            </a:r>
            <a:r>
              <a:rPr lang="en-US" sz="1600" dirty="0" err="1">
                <a:solidFill>
                  <a:srgbClr val="1F2937"/>
                </a:solidFill>
              </a:rPr>
              <a:t>behaviour</a:t>
            </a:r>
            <a:r>
              <a:rPr lang="en-US" sz="1600" dirty="0">
                <a:solidFill>
                  <a:srgbClr val="1F2937"/>
                </a:solidFill>
              </a:rPr>
              <a:t>: leisure, flexibility, e-bike convenience, seasonality, and repeated long-duration use.</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7B1EC8D-11C6-24F9-7D04-EDB302BA6758}"/>
              </a:ext>
            </a:extLst>
          </p:cNvPr>
          <p:cNvGrpSpPr/>
          <p:nvPr/>
        </p:nvGrpSpPr>
        <p:grpSpPr>
          <a:xfrm>
            <a:off x="490856" y="991149"/>
            <a:ext cx="5105591" cy="5005012"/>
            <a:chOff x="7779435" y="1271165"/>
            <a:chExt cx="2996981" cy="2880066"/>
          </a:xfrm>
        </p:grpSpPr>
        <p:sp>
          <p:nvSpPr>
            <p:cNvPr id="7" name="Shape 10">
              <a:extLst>
                <a:ext uri="{FF2B5EF4-FFF2-40B4-BE49-F238E27FC236}">
                  <a16:creationId xmlns:a16="http://schemas.microsoft.com/office/drawing/2014/main" id="{7D1D0400-946D-6332-0E47-FEEDDF1097DE}"/>
                </a:ext>
              </a:extLst>
            </p:cNvPr>
            <p:cNvSpPr/>
            <p:nvPr/>
          </p:nvSpPr>
          <p:spPr>
            <a:xfrm rot="13500000">
              <a:off x="7980498" y="1419027"/>
              <a:ext cx="2509884" cy="2611770"/>
            </a:xfrm>
            <a:prstGeom prst="arc">
              <a:avLst/>
            </a:prstGeom>
            <a:noFill/>
            <a:ln w="165100">
              <a:solidFill>
                <a:srgbClr val="F8766D">
                  <a:alpha val="93000"/>
                </a:srgbClr>
              </a:solidFill>
              <a:prstDash val="solid"/>
            </a:ln>
          </p:spPr>
          <p:txBody>
            <a:bodyPr/>
            <a:lstStyle/>
            <a:p>
              <a:endParaRPr lang="en-US"/>
            </a:p>
          </p:txBody>
        </p:sp>
        <p:sp>
          <p:nvSpPr>
            <p:cNvPr id="8" name="Text 12">
              <a:extLst>
                <a:ext uri="{FF2B5EF4-FFF2-40B4-BE49-F238E27FC236}">
                  <a16:creationId xmlns:a16="http://schemas.microsoft.com/office/drawing/2014/main" id="{C23F405E-D240-2F7B-B49F-28E282A47DD4}"/>
                </a:ext>
              </a:extLst>
            </p:cNvPr>
            <p:cNvSpPr/>
            <p:nvPr/>
          </p:nvSpPr>
          <p:spPr>
            <a:xfrm>
              <a:off x="8363778" y="2210571"/>
              <a:ext cx="1743323" cy="1028680"/>
            </a:xfrm>
            <a:prstGeom prst="rect">
              <a:avLst/>
            </a:prstGeom>
            <a:noFill/>
            <a:ln/>
          </p:spPr>
          <p:txBody>
            <a:bodyPr wrap="square" rtlCol="0" anchor="ctr"/>
            <a:lstStyle/>
            <a:p>
              <a:pPr marL="0" indent="0" algn="ctr">
                <a:buNone/>
              </a:pPr>
              <a:r>
                <a:rPr lang="en-US" sz="4000" b="1" dirty="0">
                  <a:solidFill>
                    <a:srgbClr val="17324D"/>
                  </a:solidFill>
                </a:rPr>
                <a:t>Thank you</a:t>
              </a:r>
              <a:endParaRPr lang="en-US" sz="4000" dirty="0"/>
            </a:p>
          </p:txBody>
        </p:sp>
        <p:sp>
          <p:nvSpPr>
            <p:cNvPr id="9" name="Shape 10">
              <a:extLst>
                <a:ext uri="{FF2B5EF4-FFF2-40B4-BE49-F238E27FC236}">
                  <a16:creationId xmlns:a16="http://schemas.microsoft.com/office/drawing/2014/main" id="{235D4D69-61D0-DE0A-B758-3044E7159CB7}"/>
                </a:ext>
              </a:extLst>
            </p:cNvPr>
            <p:cNvSpPr/>
            <p:nvPr/>
          </p:nvSpPr>
          <p:spPr>
            <a:xfrm rot="900000">
              <a:off x="7955281" y="1444751"/>
              <a:ext cx="2560320" cy="2560320"/>
            </a:xfrm>
            <a:prstGeom prst="arc">
              <a:avLst>
                <a:gd name="adj1" fmla="val 16200000"/>
                <a:gd name="adj2" fmla="val 20860331"/>
              </a:avLst>
            </a:prstGeom>
            <a:noFill/>
            <a:ln w="165100">
              <a:solidFill>
                <a:srgbClr val="F8766D">
                  <a:alpha val="93000"/>
                </a:srgbClr>
              </a:solidFill>
              <a:prstDash val="solid"/>
            </a:ln>
          </p:spPr>
          <p:txBody>
            <a:bodyPr/>
            <a:lstStyle/>
            <a:p>
              <a:endParaRPr lang="en-US"/>
            </a:p>
          </p:txBody>
        </p:sp>
        <p:sp>
          <p:nvSpPr>
            <p:cNvPr id="10" name="Shape 10">
              <a:extLst>
                <a:ext uri="{FF2B5EF4-FFF2-40B4-BE49-F238E27FC236}">
                  <a16:creationId xmlns:a16="http://schemas.microsoft.com/office/drawing/2014/main" id="{AC7FBB45-BF9E-E7B7-4186-65FC32F82DBB}"/>
                </a:ext>
              </a:extLst>
            </p:cNvPr>
            <p:cNvSpPr/>
            <p:nvPr/>
          </p:nvSpPr>
          <p:spPr>
            <a:xfrm rot="4381026">
              <a:off x="7837893" y="1212707"/>
              <a:ext cx="2880066" cy="2996981"/>
            </a:xfrm>
            <a:prstGeom prst="arc">
              <a:avLst>
                <a:gd name="adj1" fmla="val 14090277"/>
                <a:gd name="adj2" fmla="val 20120706"/>
              </a:avLst>
            </a:prstGeom>
            <a:noFill/>
            <a:ln w="165100">
              <a:solidFill>
                <a:srgbClr val="02BFC4"/>
              </a:solidFill>
              <a:prstDash val="solid"/>
            </a:ln>
          </p:spPr>
          <p:txBody>
            <a:bodyPr/>
            <a:lstStyle/>
            <a:p>
              <a:endParaRPr lang="en-US"/>
            </a:p>
          </p:txBody>
        </p:sp>
      </p:grpSp>
      <p:sp>
        <p:nvSpPr>
          <p:cNvPr id="11" name="Shape 2">
            <a:extLst>
              <a:ext uri="{FF2B5EF4-FFF2-40B4-BE49-F238E27FC236}">
                <a16:creationId xmlns:a16="http://schemas.microsoft.com/office/drawing/2014/main" id="{92991723-1443-92D6-2F8F-F4E683C66236}"/>
              </a:ext>
            </a:extLst>
          </p:cNvPr>
          <p:cNvSpPr/>
          <p:nvPr/>
        </p:nvSpPr>
        <p:spPr>
          <a:xfrm rot="10800000">
            <a:off x="0" y="6328282"/>
            <a:ext cx="12191695" cy="529718"/>
          </a:xfrm>
          <a:prstGeom prst="rect">
            <a:avLst/>
          </a:prstGeom>
          <a:solidFill>
            <a:srgbClr val="00BFC4"/>
          </a:solidFill>
          <a:ln w="12700">
            <a:solidFill>
              <a:srgbClr val="00BFC4"/>
            </a:solidFill>
            <a:prstDash val="solid"/>
          </a:ln>
        </p:spPr>
        <p:txBody>
          <a:bodyPr/>
          <a:lstStyle/>
          <a:p>
            <a:endParaRPr lang="en-US"/>
          </a:p>
        </p:txBody>
      </p:sp>
      <p:sp>
        <p:nvSpPr>
          <p:cNvPr id="12" name="Shape 3">
            <a:extLst>
              <a:ext uri="{FF2B5EF4-FFF2-40B4-BE49-F238E27FC236}">
                <a16:creationId xmlns:a16="http://schemas.microsoft.com/office/drawing/2014/main" id="{594392F6-3DEF-41DA-7F17-E9E6AFDD92C2}"/>
              </a:ext>
            </a:extLst>
          </p:cNvPr>
          <p:cNvSpPr/>
          <p:nvPr/>
        </p:nvSpPr>
        <p:spPr>
          <a:xfrm rot="10800000">
            <a:off x="0" y="6313110"/>
            <a:ext cx="12191695" cy="367867"/>
          </a:xfrm>
          <a:prstGeom prst="rect">
            <a:avLst/>
          </a:prstGeom>
          <a:solidFill>
            <a:srgbClr val="F8766D"/>
          </a:solidFill>
          <a:ln w="12700">
            <a:solidFill>
              <a:srgbClr val="F8766D"/>
            </a:solidFill>
            <a:prstDash val="solid"/>
          </a:ln>
        </p:spPr>
        <p:txBody>
          <a:bodyPr/>
          <a:lstStyle/>
          <a:p>
            <a:endParaRPr lang="en-US"/>
          </a:p>
        </p:txBody>
      </p:sp>
    </p:spTree>
    <p:extLst>
      <p:ext uri="{BB962C8B-B14F-4D97-AF65-F5344CB8AC3E}">
        <p14:creationId xmlns:p14="http://schemas.microsoft.com/office/powerpoint/2010/main" val="1226481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1473</Words>
  <Application>Microsoft Macintosh PowerPoint</Application>
  <PresentationFormat>Widescreen</PresentationFormat>
  <Paragraphs>167</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Google Data Analytics Professional Certificate Capstone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Cyclistic Bike-Share Case Study</dc:title>
  <dc:subject>Cyclistic Bike-Share Case Study</dc:subject>
  <dc:creator>James Seby Bacus</dc:creator>
  <cp:lastModifiedBy>James Seby Coronado Bacus</cp:lastModifiedBy>
  <cp:revision>24</cp:revision>
  <dcterms:created xsi:type="dcterms:W3CDTF">2026-07-10T07:21:50Z</dcterms:created>
  <dcterms:modified xsi:type="dcterms:W3CDTF">2026-07-10T09:02:20Z</dcterms:modified>
</cp:coreProperties>
</file>